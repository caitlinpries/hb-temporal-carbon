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7" r:id="rId2"/>
    <p:sldId id="259" r:id="rId3"/>
    <p:sldId id="267" r:id="rId4"/>
    <p:sldId id="256" r:id="rId5"/>
    <p:sldId id="269" r:id="rId6"/>
    <p:sldId id="268" r:id="rId7"/>
    <p:sldId id="260" r:id="rId8"/>
    <p:sldId id="258" r:id="rId9"/>
    <p:sldId id="274" r:id="rId10"/>
    <p:sldId id="270" r:id="rId11"/>
    <p:sldId id="273" r:id="rId12"/>
    <p:sldId id="271" r:id="rId13"/>
    <p:sldId id="278" r:id="rId14"/>
    <p:sldId id="277" r:id="rId15"/>
    <p:sldId id="262" r:id="rId16"/>
    <p:sldId id="286" r:id="rId17"/>
    <p:sldId id="263" r:id="rId18"/>
    <p:sldId id="284" r:id="rId19"/>
    <p:sldId id="285" r:id="rId20"/>
    <p:sldId id="264" r:id="rId21"/>
    <p:sldId id="275" r:id="rId22"/>
    <p:sldId id="276" r:id="rId23"/>
    <p:sldId id="280" r:id="rId24"/>
    <p:sldId id="281" r:id="rId25"/>
    <p:sldId id="282" r:id="rId26"/>
    <p:sldId id="283" r:id="rId27"/>
    <p:sldId id="287" r:id="rId28"/>
    <p:sldId id="288" r:id="rId29"/>
    <p:sldId id="290" r:id="rId30"/>
    <p:sldId id="272" r:id="rId31"/>
    <p:sldId id="291" r:id="rId32"/>
    <p:sldId id="29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30"/>
    <p:restoredTop sz="77599"/>
  </p:normalViewPr>
  <p:slideViewPr>
    <p:cSldViewPr snapToGrid="0">
      <p:cViewPr>
        <p:scale>
          <a:sx n="105" d="100"/>
          <a:sy n="105" d="100"/>
        </p:scale>
        <p:origin x="96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08T01:40:34.561"/>
    </inkml:context>
    <inkml:brush xml:id="br0">
      <inkml:brushProperty name="width" value="0.05" units="cm"/>
      <inkml:brushProperty name="height" value="0.05" units="cm"/>
      <inkml:brushProperty name="color" value="#E71224"/>
    </inkml:brush>
  </inkml:definitions>
  <inkml:trace contextRef="#ctx0" brushRef="#br0">0 1204 24575,'0'46'0,"0"5"0,5 16 0,1-11 0,2-14 0,10 36 0,-6-10 0,9 21 0,-5-18 0,2-12 0,0 5 0,-3-5 0,0-9 0,-3-2 0,-1-10 0,0-6 0,-1-3 0,-3-9 0,-1-5 0,-2-6 0,-2-1 0,0-1 0,-1 2 0,1-1 0,0-2 0,2-10 0,5-13 0,5-18 0,10-15 0,4-8 0,-1 5 0,2-3-1056,13-26 1,2-3 1055,-1 6 0,0 0-1242,2-4 0,1-2 1242,-11 23 0,1 0 0,0 0 0,1 1 0,1-1 0,0 1 0,0-1 0,0 0 0,0 2-791,13-19 0,0 2 791,2 0 0,-2 3 0,-4 8 0,-1 4-295,-5 8 1,0 3 294,-3 4 0,-1 3 0,16-17 0,-5 10 1576,-12 15-1576,-4 5 2390,-7 7-2390,-3 4 1956,-3 3-1956,-5 6 844,-2 2-844,-2 4 0,-1 0 0,-1-1 0,-3 4 0,-2-2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821ACB-426E-C649-875B-06B6170E53D4}" type="datetimeFigureOut">
              <a:rPr lang="en-US" smtClean="0"/>
              <a:t>10/16/26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459AEE-7495-D24E-B21E-E45223BC7DA0}" type="slidenum">
              <a:rPr lang="en-US" smtClean="0"/>
              <a:t>‹#›</a:t>
            </a:fld>
            <a:endParaRPr lang="en-US"/>
          </a:p>
        </p:txBody>
      </p:sp>
    </p:spTree>
    <p:extLst>
      <p:ext uri="{BB962C8B-B14F-4D97-AF65-F5344CB8AC3E}">
        <p14:creationId xmlns:p14="http://schemas.microsoft.com/office/powerpoint/2010/main" val="526380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use comparisons between watershed 1 and watershed 6 to tease apart climate vs atmospheric chemistry drivers?</a:t>
            </a:r>
          </a:p>
          <a:p>
            <a:endParaRPr lang="en-US" dirty="0"/>
          </a:p>
          <a:p>
            <a:r>
              <a:rPr lang="en-US" dirty="0"/>
              <a:t>Standardized change</a:t>
            </a:r>
          </a:p>
        </p:txBody>
      </p:sp>
      <p:sp>
        <p:nvSpPr>
          <p:cNvPr id="4" name="Slide Number Placeholder 3"/>
          <p:cNvSpPr>
            <a:spLocks noGrp="1"/>
          </p:cNvSpPr>
          <p:nvPr>
            <p:ph type="sldNum" sz="quarter" idx="5"/>
          </p:nvPr>
        </p:nvSpPr>
        <p:spPr/>
        <p:txBody>
          <a:bodyPr/>
          <a:lstStyle/>
          <a:p>
            <a:fld id="{35459AEE-7495-D24E-B21E-E45223BC7DA0}" type="slidenum">
              <a:rPr lang="en-US" smtClean="0"/>
              <a:t>4</a:t>
            </a:fld>
            <a:endParaRPr lang="en-US"/>
          </a:p>
        </p:txBody>
      </p:sp>
    </p:spTree>
    <p:extLst>
      <p:ext uri="{BB962C8B-B14F-4D97-AF65-F5344CB8AC3E}">
        <p14:creationId xmlns:p14="http://schemas.microsoft.com/office/powerpoint/2010/main" val="13716464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parameters include Davies test to see if slopes before and after breakpoint differ from each other, whether linear slope is significant, and whether spline curvature is significant</a:t>
            </a:r>
          </a:p>
        </p:txBody>
      </p:sp>
      <p:sp>
        <p:nvSpPr>
          <p:cNvPr id="4" name="Slide Number Placeholder 3"/>
          <p:cNvSpPr>
            <a:spLocks noGrp="1"/>
          </p:cNvSpPr>
          <p:nvPr>
            <p:ph type="sldNum" sz="quarter" idx="5"/>
          </p:nvPr>
        </p:nvSpPr>
        <p:spPr/>
        <p:txBody>
          <a:bodyPr/>
          <a:lstStyle/>
          <a:p>
            <a:fld id="{35459AEE-7495-D24E-B21E-E45223BC7DA0}" type="slidenum">
              <a:rPr lang="en-US" smtClean="0"/>
              <a:t>6</a:t>
            </a:fld>
            <a:endParaRPr lang="en-US"/>
          </a:p>
        </p:txBody>
      </p:sp>
    </p:spTree>
    <p:extLst>
      <p:ext uri="{BB962C8B-B14F-4D97-AF65-F5344CB8AC3E}">
        <p14:creationId xmlns:p14="http://schemas.microsoft.com/office/powerpoint/2010/main" val="3175171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zeroes actually zeroes?</a:t>
            </a:r>
          </a:p>
        </p:txBody>
      </p:sp>
      <p:sp>
        <p:nvSpPr>
          <p:cNvPr id="4" name="Slide Number Placeholder 3"/>
          <p:cNvSpPr>
            <a:spLocks noGrp="1"/>
          </p:cNvSpPr>
          <p:nvPr>
            <p:ph type="sldNum" sz="quarter" idx="5"/>
          </p:nvPr>
        </p:nvSpPr>
        <p:spPr/>
        <p:txBody>
          <a:bodyPr/>
          <a:lstStyle/>
          <a:p>
            <a:fld id="{35459AEE-7495-D24E-B21E-E45223BC7DA0}" type="slidenum">
              <a:rPr lang="en-US" smtClean="0"/>
              <a:t>10</a:t>
            </a:fld>
            <a:endParaRPr lang="en-US"/>
          </a:p>
        </p:txBody>
      </p:sp>
    </p:spTree>
    <p:extLst>
      <p:ext uri="{BB962C8B-B14F-4D97-AF65-F5344CB8AC3E}">
        <p14:creationId xmlns:p14="http://schemas.microsoft.com/office/powerpoint/2010/main" val="8117496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459AEE-7495-D24E-B21E-E45223BC7DA0}" type="slidenum">
              <a:rPr lang="en-US" smtClean="0"/>
              <a:t>28</a:t>
            </a:fld>
            <a:endParaRPr lang="en-US"/>
          </a:p>
        </p:txBody>
      </p:sp>
    </p:spTree>
    <p:extLst>
      <p:ext uri="{BB962C8B-B14F-4D97-AF65-F5344CB8AC3E}">
        <p14:creationId xmlns:p14="http://schemas.microsoft.com/office/powerpoint/2010/main" val="3797795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B72E9-6FD7-5F48-FC5D-10D2C290ED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40C660-A3C3-EE6F-4E8F-62F8BB3C8D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451A13-8853-5781-6221-F38E8B28006A}"/>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0CB59F69-DA63-2341-A941-D5CD199E3E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9855B6-93F9-7EFC-CEEE-5FDFC2E01A93}"/>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763258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4E221-31B3-1B1F-66FA-3CA2A0AFE4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DB2E8E-9AB4-B51F-1123-9E3A81F082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39AA02-FAAF-3F59-F8AA-E85131EA5CB0}"/>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16A73D61-1356-886B-9D10-C3757C07E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9C56B6-8440-9C72-DE8F-D01EC3E42D9D}"/>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963142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B9678-FA58-4DE2-62FE-2CDEFB3ED5B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035CB3-49B1-7CE6-FE26-A98EED6598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D2177F-EFA8-3CFB-10B9-7F248BCFFAAF}"/>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33C88512-D6B8-E738-DA7A-BDB4A7D331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ECA408-4093-EA56-DE7F-7A7318837348}"/>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572483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0B66C-DE52-F8F9-D08D-B9D24712C2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BEB575-1D53-38DD-D9F4-BBCEF933567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A74A97-8572-173F-430A-F8F5D23ADF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8337EC-807E-665A-5F4D-8D0FBC936EE8}"/>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6" name="Footer Placeholder 5">
            <a:extLst>
              <a:ext uri="{FF2B5EF4-FFF2-40B4-BE49-F238E27FC236}">
                <a16:creationId xmlns:a16="http://schemas.microsoft.com/office/drawing/2014/main" id="{20925B6D-EA4A-23BF-A017-25247604EF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40134B-53F2-0FCD-C3FA-8D7EB9E6F14F}"/>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6905875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0D0E4-8571-D3AC-5771-A3F1AB5DBB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12040-37C8-50A5-8677-B902DBCE4B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1EA244E-2D6E-10B8-7B22-BEE2E9AB0E7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B00DE9D-8340-5B27-1FCA-2337BCDCEA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D94FB38-A480-21DC-A897-C4BDFF5AE6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AC1A094-E4BB-CB93-7ED0-8716B319105B}"/>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8" name="Footer Placeholder 7">
            <a:extLst>
              <a:ext uri="{FF2B5EF4-FFF2-40B4-BE49-F238E27FC236}">
                <a16:creationId xmlns:a16="http://schemas.microsoft.com/office/drawing/2014/main" id="{67CBA0A6-C444-1560-1864-9D72C2B1770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D87B680-1DC9-D5B2-7AC8-413106A6ACF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991170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79B47-107B-F7D2-8359-863D7B6EDE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930A79-40B7-9BF0-B058-9ECAD0AFCEF2}"/>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4" name="Footer Placeholder 3">
            <a:extLst>
              <a:ext uri="{FF2B5EF4-FFF2-40B4-BE49-F238E27FC236}">
                <a16:creationId xmlns:a16="http://schemas.microsoft.com/office/drawing/2014/main" id="{145F8CF3-6E61-E11F-7220-DA37AA20F8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9A668E-DF6B-DD08-8F1D-A92BED5213FC}"/>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5923272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4A6CFA-4BEA-C9B1-CC1C-CCD6F1D9A419}"/>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3" name="Footer Placeholder 2">
            <a:extLst>
              <a:ext uri="{FF2B5EF4-FFF2-40B4-BE49-F238E27FC236}">
                <a16:creationId xmlns:a16="http://schemas.microsoft.com/office/drawing/2014/main" id="{7F570FFE-E84A-1940-05D5-A465CB60F4C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97E7283-B2AD-F08E-2703-61AD79DBB080}"/>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463115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15200-4DAA-5580-4017-B6F6542A8E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8C3FBB0-4224-4108-1235-95AF08CC72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0B2AC1-CA3E-6013-579E-B25023426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137998-B951-0A06-A519-18E8DC137904}"/>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6" name="Footer Placeholder 5">
            <a:extLst>
              <a:ext uri="{FF2B5EF4-FFF2-40B4-BE49-F238E27FC236}">
                <a16:creationId xmlns:a16="http://schemas.microsoft.com/office/drawing/2014/main" id="{47806FF9-B381-1F4A-4EB7-0F927F10B5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047137-D4EC-F66B-9AAA-C12F1A36DFA0}"/>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33174637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FEB3F-B156-FCD5-4ACC-BE07CA314A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4B7592-F7FD-30DC-C5B0-158C93CF227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359BE3-3C70-18FB-6388-F2007FA0D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C4C891-2586-15F5-9C1C-48DFE436515D}"/>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6" name="Footer Placeholder 5">
            <a:extLst>
              <a:ext uri="{FF2B5EF4-FFF2-40B4-BE49-F238E27FC236}">
                <a16:creationId xmlns:a16="http://schemas.microsoft.com/office/drawing/2014/main" id="{765C022C-3755-A77D-37F2-C68E0F81A7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13930D-E343-93BF-5873-4657F630BB0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846661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47104-286F-B78F-04C5-B2F69AE5BEF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AA7F59-2B7F-4AE7-4B7E-E6E007A8F02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2AB46A-365F-9793-8933-2BD4D6E72DF5}"/>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0348F56A-2C6C-2998-70C6-090C618DCE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80250F-C519-748B-8C06-8F82571CEB6B}"/>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921711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FB8202-A52E-8AFC-C67F-85568C25A1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6BE11F1-802F-5E17-8E47-1BBE375DC4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827AF-8F0A-7681-46E6-169F740F9E7A}"/>
              </a:ext>
            </a:extLst>
          </p:cNvPr>
          <p:cNvSpPr>
            <a:spLocks noGrp="1"/>
          </p:cNvSpPr>
          <p:nvPr>
            <p:ph type="dt" sz="half" idx="10"/>
          </p:nvPr>
        </p:nvSpPr>
        <p:spPr/>
        <p:txBody>
          <a:body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B03A5B7F-8FFB-8213-593F-0B686C72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B75650-35B2-3B56-175C-091135600A15}"/>
              </a:ext>
            </a:extLst>
          </p:cNvPr>
          <p:cNvSpPr>
            <a:spLocks noGrp="1"/>
          </p:cNvSpPr>
          <p:nvPr>
            <p:ph type="sldNum" sz="quarter" idx="12"/>
          </p:nvPr>
        </p:nvSpPr>
        <p:spPr/>
        <p:txBody>
          <a:bodyPr/>
          <a:lstStyle/>
          <a:p>
            <a:fld id="{56B9DC4B-7100-3246-9FC6-6579CAF050A9}" type="slidenum">
              <a:rPr lang="en-US" smtClean="0"/>
              <a:t>‹#›</a:t>
            </a:fld>
            <a:endParaRPr lang="en-US"/>
          </a:p>
        </p:txBody>
      </p:sp>
    </p:spTree>
    <p:extLst>
      <p:ext uri="{BB962C8B-B14F-4D97-AF65-F5344CB8AC3E}">
        <p14:creationId xmlns:p14="http://schemas.microsoft.com/office/powerpoint/2010/main" val="1831948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081999-1EA1-6F6B-5EB4-127A913363E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68145C-2AE6-B058-C089-A69F40009E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7A79B-0C6A-D083-1EB1-7EB125141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95CD87D-2D4F-8B45-B68F-79BCB0A7DEB7}" type="datetimeFigureOut">
              <a:rPr lang="en-US" smtClean="0"/>
              <a:t>10/16/26</a:t>
            </a:fld>
            <a:endParaRPr lang="en-US"/>
          </a:p>
        </p:txBody>
      </p:sp>
      <p:sp>
        <p:nvSpPr>
          <p:cNvPr id="5" name="Footer Placeholder 4">
            <a:extLst>
              <a:ext uri="{FF2B5EF4-FFF2-40B4-BE49-F238E27FC236}">
                <a16:creationId xmlns:a16="http://schemas.microsoft.com/office/drawing/2014/main" id="{AF1DF7D1-0B22-A3C4-D72A-07FC231052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CBAF617-879F-CE3A-C712-752CBF05B4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6B9DC4B-7100-3246-9FC6-6579CAF050A9}" type="slidenum">
              <a:rPr lang="en-US" smtClean="0"/>
              <a:t>‹#›</a:t>
            </a:fld>
            <a:endParaRPr lang="en-US"/>
          </a:p>
        </p:txBody>
      </p:sp>
    </p:spTree>
    <p:extLst>
      <p:ext uri="{BB962C8B-B14F-4D97-AF65-F5344CB8AC3E}">
        <p14:creationId xmlns:p14="http://schemas.microsoft.com/office/powerpoint/2010/main" val="2760829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1.png"/><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C09FB-2DC4-50DD-6568-15AF76746D47}"/>
              </a:ext>
            </a:extLst>
          </p:cNvPr>
          <p:cNvSpPr>
            <a:spLocks noGrp="1"/>
          </p:cNvSpPr>
          <p:nvPr>
            <p:ph type="ctrTitle"/>
          </p:nvPr>
        </p:nvSpPr>
        <p:spPr>
          <a:xfrm>
            <a:off x="2193402" y="798271"/>
            <a:ext cx="7805195" cy="2387600"/>
          </a:xfrm>
        </p:spPr>
        <p:txBody>
          <a:bodyPr/>
          <a:lstStyle/>
          <a:p>
            <a:r>
              <a:rPr lang="en-US" dirty="0"/>
              <a:t>Temporal Trends in Carbon Cycling</a:t>
            </a:r>
          </a:p>
        </p:txBody>
      </p:sp>
      <p:sp>
        <p:nvSpPr>
          <p:cNvPr id="3" name="Subtitle 2">
            <a:extLst>
              <a:ext uri="{FF2B5EF4-FFF2-40B4-BE49-F238E27FC236}">
                <a16:creationId xmlns:a16="http://schemas.microsoft.com/office/drawing/2014/main" id="{757F81AC-FFCF-9BD6-7128-1B42006A6BE1}"/>
              </a:ext>
            </a:extLst>
          </p:cNvPr>
          <p:cNvSpPr>
            <a:spLocks noGrp="1"/>
          </p:cNvSpPr>
          <p:nvPr>
            <p:ph type="subTitle" idx="1"/>
          </p:nvPr>
        </p:nvSpPr>
        <p:spPr>
          <a:xfrm>
            <a:off x="843022" y="3834382"/>
            <a:ext cx="10668000" cy="2387600"/>
          </a:xfrm>
        </p:spPr>
        <p:txBody>
          <a:bodyPr>
            <a:normAutofit fontScale="92500"/>
          </a:bodyPr>
          <a:lstStyle/>
          <a:p>
            <a:r>
              <a:rPr lang="en-US" dirty="0"/>
              <a:t>Caitlin Hicks Pries</a:t>
            </a:r>
          </a:p>
          <a:p>
            <a:r>
              <a:rPr lang="en-US" dirty="0"/>
              <a:t>and the members of the Carbon Temporal Synthesis Group (in no particular order): </a:t>
            </a:r>
          </a:p>
          <a:p>
            <a:r>
              <a:rPr lang="en-US" dirty="0"/>
              <a:t>Sophie von Fromm, Angela Possinger, Chris Solomon, Andrew Reinman, Heili Lowman, Peter Groffman, Emerson Conrad Rooney, Jason Demers, Geoff Wilson, Bob Fahey, Jeff Garnas, Pam Templer, Darby Bergyl, Scott Olinger, Nina Lany, and Alix Contosta</a:t>
            </a:r>
          </a:p>
        </p:txBody>
      </p:sp>
    </p:spTree>
    <p:extLst>
      <p:ext uri="{BB962C8B-B14F-4D97-AF65-F5344CB8AC3E}">
        <p14:creationId xmlns:p14="http://schemas.microsoft.com/office/powerpoint/2010/main" val="2608950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2E62931-8EB4-42BB-BAAB-D8757BE66D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BEAA41-ACBF-4B16-9279-B415E57C3324}"/>
              </a:ext>
            </a:extLst>
          </p:cNvPr>
          <p:cNvSpPr>
            <a:spLocks noGrp="1"/>
          </p:cNvSpPr>
          <p:nvPr>
            <p:ph type="title"/>
          </p:nvPr>
        </p:nvSpPr>
        <p:spPr>
          <a:xfrm>
            <a:off x="6367461" y="728664"/>
            <a:ext cx="4984813" cy="3157080"/>
          </a:xfrm>
          <a:noFill/>
        </p:spPr>
        <p:txBody>
          <a:bodyPr vert="horz" lIns="91440" tIns="45720" rIns="91440" bIns="45720" rtlCol="0" anchor="b">
            <a:normAutofit/>
          </a:bodyPr>
          <a:lstStyle/>
          <a:p>
            <a:r>
              <a:rPr lang="en-US" sz="4800"/>
              <a:t>How has global change affected the carbon cycle at Hubbard Brook?</a:t>
            </a:r>
          </a:p>
        </p:txBody>
      </p:sp>
      <p:pic>
        <p:nvPicPr>
          <p:cNvPr id="8" name="Picture 7">
            <a:extLst>
              <a:ext uri="{FF2B5EF4-FFF2-40B4-BE49-F238E27FC236}">
                <a16:creationId xmlns:a16="http://schemas.microsoft.com/office/drawing/2014/main" id="{4CB75017-DD6A-8FB6-D86C-E2EFD01A0D39}"/>
              </a:ext>
            </a:extLst>
          </p:cNvPr>
          <p:cNvPicPr>
            <a:picLocks noChangeAspect="1"/>
          </p:cNvPicPr>
          <p:nvPr/>
        </p:nvPicPr>
        <p:blipFill>
          <a:blip r:embed="rId2"/>
          <a:srcRect r="14352" b="-2"/>
          <a:stretch>
            <a:fillRect/>
          </a:stretch>
        </p:blipFill>
        <p:spPr>
          <a:xfrm rot="5400000">
            <a:off x="-426243" y="426244"/>
            <a:ext cx="6858000" cy="6005512"/>
          </a:xfrm>
          <a:prstGeom prst="rect">
            <a:avLst/>
          </a:prstGeom>
        </p:spPr>
      </p:pic>
    </p:spTree>
    <p:extLst>
      <p:ext uri="{BB962C8B-B14F-4D97-AF65-F5344CB8AC3E}">
        <p14:creationId xmlns:p14="http://schemas.microsoft.com/office/powerpoint/2010/main" val="3941673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4532C-C370-3FA0-2E0D-C16C883C33E6}"/>
              </a:ext>
            </a:extLst>
          </p:cNvPr>
          <p:cNvSpPr>
            <a:spLocks noGrp="1"/>
          </p:cNvSpPr>
          <p:nvPr>
            <p:ph type="title"/>
          </p:nvPr>
        </p:nvSpPr>
        <p:spPr/>
        <p:txBody>
          <a:bodyPr/>
          <a:lstStyle/>
          <a:p>
            <a:r>
              <a:rPr lang="en-US" dirty="0"/>
              <a:t>Some Background</a:t>
            </a:r>
          </a:p>
        </p:txBody>
      </p:sp>
      <p:sp>
        <p:nvSpPr>
          <p:cNvPr id="3" name="Content Placeholder 2">
            <a:extLst>
              <a:ext uri="{FF2B5EF4-FFF2-40B4-BE49-F238E27FC236}">
                <a16:creationId xmlns:a16="http://schemas.microsoft.com/office/drawing/2014/main" id="{542016CC-5663-EEFA-FFFB-C87685F97BB5}"/>
              </a:ext>
            </a:extLst>
          </p:cNvPr>
          <p:cNvSpPr>
            <a:spLocks noGrp="1"/>
          </p:cNvSpPr>
          <p:nvPr>
            <p:ph idx="1"/>
          </p:nvPr>
        </p:nvSpPr>
        <p:spPr/>
        <p:txBody>
          <a:bodyPr/>
          <a:lstStyle/>
          <a:p>
            <a:r>
              <a:rPr lang="en-US" dirty="0"/>
              <a:t>This effort came out of the Carbon Cycle workshop in January</a:t>
            </a:r>
          </a:p>
          <a:p>
            <a:endParaRPr lang="en-US" dirty="0"/>
          </a:p>
          <a:p>
            <a:r>
              <a:rPr lang="en-US" dirty="0"/>
              <a:t>We want to find a way to synthesize the myriad of long-term data products related to the carbon cycle</a:t>
            </a:r>
          </a:p>
          <a:p>
            <a:endParaRPr lang="en-US" dirty="0"/>
          </a:p>
          <a:p>
            <a:r>
              <a:rPr lang="en-US" dirty="0"/>
              <a:t>There are many projects examining temporal trends at Hubbard Brook, but we *think* this is the only one focused on connecting all of the carbon cycle-related data</a:t>
            </a:r>
          </a:p>
          <a:p>
            <a:endParaRPr lang="en-US" dirty="0"/>
          </a:p>
        </p:txBody>
      </p:sp>
    </p:spTree>
    <p:extLst>
      <p:ext uri="{BB962C8B-B14F-4D97-AF65-F5344CB8AC3E}">
        <p14:creationId xmlns:p14="http://schemas.microsoft.com/office/powerpoint/2010/main" val="1851590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AAB8BB5-164C-4EEC-7395-4E457DA2FAE9}"/>
              </a:ext>
            </a:extLst>
          </p:cNvPr>
          <p:cNvSpPr txBox="1"/>
          <p:nvPr/>
        </p:nvSpPr>
        <p:spPr>
          <a:xfrm>
            <a:off x="5442856" y="643622"/>
            <a:ext cx="6444344" cy="4801314"/>
          </a:xfrm>
          <a:prstGeom prst="rect">
            <a:avLst/>
          </a:prstGeom>
          <a:noFill/>
        </p:spPr>
        <p:txBody>
          <a:bodyPr wrap="square" rtlCol="0">
            <a:spAutoFit/>
          </a:bodyPr>
          <a:lstStyle/>
          <a:p>
            <a:r>
              <a:rPr lang="en-US" sz="3200" dirty="0"/>
              <a:t>What is the rate and direction of change of carbon-related parameters in </a:t>
            </a:r>
            <a:r>
              <a:rPr lang="en-US" sz="3200" b="1" dirty="0">
                <a:solidFill>
                  <a:srgbClr val="0070C0"/>
                </a:solidFill>
              </a:rPr>
              <a:t>streams</a:t>
            </a:r>
            <a:r>
              <a:rPr lang="en-US" sz="3200" dirty="0"/>
              <a:t>,</a:t>
            </a:r>
            <a:r>
              <a:rPr lang="en-US" sz="3200" b="1" dirty="0">
                <a:solidFill>
                  <a:srgbClr val="0070C0"/>
                </a:solidFill>
              </a:rPr>
              <a:t> </a:t>
            </a:r>
            <a:r>
              <a:rPr lang="en-US" sz="3200" b="1" dirty="0">
                <a:solidFill>
                  <a:schemeClr val="accent6"/>
                </a:solidFill>
              </a:rPr>
              <a:t>plants</a:t>
            </a:r>
            <a:r>
              <a:rPr lang="en-US" sz="3200" dirty="0"/>
              <a:t>, and </a:t>
            </a:r>
            <a:r>
              <a:rPr lang="en-US" sz="3200" b="1" dirty="0">
                <a:solidFill>
                  <a:schemeClr val="accent2">
                    <a:lumMod val="50000"/>
                  </a:schemeClr>
                </a:solidFill>
              </a:rPr>
              <a:t>soils </a:t>
            </a:r>
            <a:r>
              <a:rPr lang="en-US" sz="3200" dirty="0"/>
              <a:t>over the past ~30-40 years at Hubbard Brook? Are these changes gradual or abrupt?</a:t>
            </a:r>
          </a:p>
          <a:p>
            <a:endParaRPr lang="en-US" dirty="0"/>
          </a:p>
          <a:p>
            <a:r>
              <a:rPr lang="en-US" sz="3200" dirty="0"/>
              <a:t>How do these trends compare to changes in drivers?</a:t>
            </a:r>
          </a:p>
          <a:p>
            <a:endParaRPr lang="en-US" sz="3200" dirty="0"/>
          </a:p>
        </p:txBody>
      </p:sp>
      <p:pic>
        <p:nvPicPr>
          <p:cNvPr id="7" name="Picture 6">
            <a:extLst>
              <a:ext uri="{FF2B5EF4-FFF2-40B4-BE49-F238E27FC236}">
                <a16:creationId xmlns:a16="http://schemas.microsoft.com/office/drawing/2014/main" id="{B5C9B33B-8683-C90F-405D-E2990F8F4E68}"/>
              </a:ext>
            </a:extLst>
          </p:cNvPr>
          <p:cNvPicPr>
            <a:picLocks noChangeAspect="1"/>
          </p:cNvPicPr>
          <p:nvPr/>
        </p:nvPicPr>
        <p:blipFill>
          <a:blip r:embed="rId3"/>
          <a:stretch>
            <a:fillRect/>
          </a:stretch>
        </p:blipFill>
        <p:spPr>
          <a:xfrm>
            <a:off x="0" y="26872"/>
            <a:ext cx="5125741" cy="6831128"/>
          </a:xfrm>
          <a:prstGeom prst="rect">
            <a:avLst/>
          </a:prstGeom>
        </p:spPr>
      </p:pic>
    </p:spTree>
    <p:extLst>
      <p:ext uri="{BB962C8B-B14F-4D97-AF65-F5344CB8AC3E}">
        <p14:creationId xmlns:p14="http://schemas.microsoft.com/office/powerpoint/2010/main" val="29567210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62C7-2649-9A81-45EF-B7C736A90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2246C-C71E-B9DE-B137-C2F1E06C04D9}"/>
              </a:ext>
            </a:extLst>
          </p:cNvPr>
          <p:cNvSpPr>
            <a:spLocks noGrp="1"/>
          </p:cNvSpPr>
          <p:nvPr>
            <p:ph type="title"/>
          </p:nvPr>
        </p:nvSpPr>
        <p:spPr/>
        <p:txBody>
          <a:bodyPr/>
          <a:lstStyle/>
          <a:p>
            <a:r>
              <a:rPr lang="en-US" dirty="0"/>
              <a:t>Preliminary Hypothesis:</a:t>
            </a:r>
          </a:p>
        </p:txBody>
      </p:sp>
      <p:sp>
        <p:nvSpPr>
          <p:cNvPr id="3" name="Content Placeholder 2">
            <a:extLst>
              <a:ext uri="{FF2B5EF4-FFF2-40B4-BE49-F238E27FC236}">
                <a16:creationId xmlns:a16="http://schemas.microsoft.com/office/drawing/2014/main" id="{DA0EEFBE-CA57-8221-3F34-0C7B6550413B}"/>
              </a:ext>
            </a:extLst>
          </p:cNvPr>
          <p:cNvSpPr>
            <a:spLocks noGrp="1"/>
          </p:cNvSpPr>
          <p:nvPr>
            <p:ph idx="1"/>
          </p:nvPr>
        </p:nvSpPr>
        <p:spPr/>
        <p:txBody>
          <a:bodyPr>
            <a:normAutofit/>
          </a:bodyPr>
          <a:lstStyle/>
          <a:p>
            <a:pPr marL="0" indent="0">
              <a:buNone/>
            </a:pPr>
            <a:r>
              <a:rPr lang="en-US" sz="3600" dirty="0"/>
              <a:t>There is an interaction wherein the responses of carbon fluxes (inputs and outputs) to climate change are more pronounced after a certain threshold of recovery from the effects of acid rain is reached. </a:t>
            </a:r>
          </a:p>
          <a:p>
            <a:pPr marL="0" indent="0">
              <a:buNone/>
            </a:pPr>
            <a:endParaRPr lang="en-US" sz="3600" dirty="0"/>
          </a:p>
          <a:p>
            <a:pPr marL="0" indent="0">
              <a:buNone/>
            </a:pPr>
            <a:endParaRPr lang="en-US" dirty="0"/>
          </a:p>
          <a:p>
            <a:endParaRPr lang="en-US" dirty="0"/>
          </a:p>
        </p:txBody>
      </p:sp>
    </p:spTree>
    <p:extLst>
      <p:ext uri="{BB962C8B-B14F-4D97-AF65-F5344CB8AC3E}">
        <p14:creationId xmlns:p14="http://schemas.microsoft.com/office/powerpoint/2010/main" val="34778825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64CC-4285-3222-378F-EC53403343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D53DB-E9AD-AD0E-A5F2-B962D687814F}"/>
              </a:ext>
            </a:extLst>
          </p:cNvPr>
          <p:cNvSpPr>
            <a:spLocks noGrp="1"/>
          </p:cNvSpPr>
          <p:nvPr>
            <p:ph type="title"/>
          </p:nvPr>
        </p:nvSpPr>
        <p:spPr>
          <a:xfrm>
            <a:off x="566351" y="-34504"/>
            <a:ext cx="10515600" cy="1325563"/>
          </a:xfrm>
        </p:spPr>
        <p:txBody>
          <a:bodyPr/>
          <a:lstStyle/>
          <a:p>
            <a:r>
              <a:rPr lang="en-US" dirty="0"/>
              <a:t>Approach</a:t>
            </a:r>
          </a:p>
        </p:txBody>
      </p:sp>
      <p:sp>
        <p:nvSpPr>
          <p:cNvPr id="3" name="Content Placeholder 2">
            <a:extLst>
              <a:ext uri="{FF2B5EF4-FFF2-40B4-BE49-F238E27FC236}">
                <a16:creationId xmlns:a16="http://schemas.microsoft.com/office/drawing/2014/main" id="{D1984591-C82C-EB28-7B87-1A95678C1AB9}"/>
              </a:ext>
            </a:extLst>
          </p:cNvPr>
          <p:cNvSpPr>
            <a:spLocks noGrp="1"/>
          </p:cNvSpPr>
          <p:nvPr>
            <p:ph idx="1"/>
          </p:nvPr>
        </p:nvSpPr>
        <p:spPr>
          <a:xfrm>
            <a:off x="566351" y="1291059"/>
            <a:ext cx="11353800" cy="5354307"/>
          </a:xfrm>
        </p:spPr>
        <p:txBody>
          <a:bodyPr>
            <a:normAutofit fontScale="92500" lnSpcReduction="20000"/>
          </a:bodyPr>
          <a:lstStyle/>
          <a:p>
            <a:pPr marL="0" indent="0">
              <a:buNone/>
            </a:pPr>
            <a:r>
              <a:rPr lang="en-US" dirty="0"/>
              <a:t>Read in and graph </a:t>
            </a:r>
            <a:r>
              <a:rPr lang="en-US" strike="sngStrike" dirty="0"/>
              <a:t>all </a:t>
            </a:r>
            <a:r>
              <a:rPr lang="en-US" dirty="0"/>
              <a:t> most of the potentially relevant datasets!</a:t>
            </a:r>
          </a:p>
          <a:p>
            <a:pPr marL="0" indent="0">
              <a:buNone/>
            </a:pPr>
            <a:endParaRPr lang="en-US" sz="2000" dirty="0"/>
          </a:p>
          <a:p>
            <a:pPr marL="0" indent="0">
              <a:buNone/>
            </a:pPr>
            <a:r>
              <a:rPr lang="en-US" dirty="0"/>
              <a:t>Standardized analyses of the temporal datasets:</a:t>
            </a:r>
          </a:p>
          <a:p>
            <a:pPr marL="914400" lvl="1" indent="-457200">
              <a:buFont typeface="+mj-lt"/>
              <a:buAutoNum type="arabicPeriod"/>
            </a:pPr>
            <a:r>
              <a:rPr lang="en-US" dirty="0"/>
              <a:t>Is there a linear trend? Positive or negative? What is the (standardized) slope?</a:t>
            </a:r>
          </a:p>
          <a:p>
            <a:pPr marL="914400" lvl="1" indent="-457200">
              <a:buFont typeface="+mj-lt"/>
              <a:buAutoNum type="arabicPeriod"/>
            </a:pPr>
            <a:r>
              <a:rPr lang="en-US" dirty="0"/>
              <a:t>Is it nonlinear? Currently fitting a spline with </a:t>
            </a:r>
            <a:r>
              <a:rPr lang="en-US" dirty="0" err="1"/>
              <a:t>df</a:t>
            </a:r>
            <a:r>
              <a:rPr lang="en-US" dirty="0"/>
              <a:t>=3.</a:t>
            </a:r>
          </a:p>
          <a:p>
            <a:pPr marL="914400" lvl="1" indent="-457200">
              <a:buFont typeface="+mj-lt"/>
              <a:buAutoNum type="arabicPeriod"/>
            </a:pPr>
            <a:r>
              <a:rPr lang="en-US" dirty="0"/>
              <a:t>Does it have a breakpoint? Using a grid approach to find</a:t>
            </a:r>
          </a:p>
          <a:p>
            <a:pPr marL="914400" lvl="1" indent="-457200">
              <a:buFont typeface="+mj-lt"/>
              <a:buAutoNum type="arabicPeriod"/>
            </a:pPr>
            <a:r>
              <a:rPr lang="en-US" dirty="0"/>
              <a:t>Compare models with AIC and evaluated key parameters with p-values</a:t>
            </a:r>
          </a:p>
          <a:p>
            <a:pPr marL="914400" lvl="1" indent="-457200">
              <a:buFont typeface="+mj-lt"/>
              <a:buAutoNum type="arabicPeriod"/>
            </a:pPr>
            <a:endParaRPr lang="en-US" sz="1500" dirty="0"/>
          </a:p>
          <a:p>
            <a:pPr marL="457200" lvl="1" indent="0">
              <a:buNone/>
            </a:pPr>
            <a:r>
              <a:rPr lang="en-US" dirty="0"/>
              <a:t>All models include a basic temporal autocorrelation structure </a:t>
            </a:r>
          </a:p>
          <a:p>
            <a:pPr marL="457200" lvl="1" indent="0">
              <a:buNone/>
            </a:pPr>
            <a:r>
              <a:rPr lang="en-US" dirty="0"/>
              <a:t>All models currently fitted to the means for each year averaged over categories</a:t>
            </a:r>
          </a:p>
          <a:p>
            <a:endParaRPr lang="en-US" sz="2000" dirty="0"/>
          </a:p>
          <a:p>
            <a:pPr marL="0" indent="0">
              <a:buNone/>
            </a:pPr>
            <a:r>
              <a:rPr lang="en-US" dirty="0"/>
              <a:t>Unresolved: </a:t>
            </a:r>
          </a:p>
          <a:p>
            <a:pPr marL="514350" indent="-514350">
              <a:buFont typeface="+mj-lt"/>
              <a:buAutoNum type="arabicPeriod"/>
            </a:pPr>
            <a:r>
              <a:rPr lang="en-US" sz="2400" dirty="0"/>
              <a:t>Strange data (i.e., precipitation and stream DOC zeroes)</a:t>
            </a:r>
          </a:p>
          <a:p>
            <a:pPr marL="514350" indent="-514350">
              <a:buFont typeface="+mj-lt"/>
              <a:buAutoNum type="arabicPeriod"/>
            </a:pPr>
            <a:r>
              <a:rPr lang="en-US" sz="2400" dirty="0"/>
              <a:t>Best approach to breakpoint analysis (is current method too liberal?)</a:t>
            </a:r>
          </a:p>
          <a:p>
            <a:pPr marL="514350" indent="-514350">
              <a:buFont typeface="+mj-lt"/>
              <a:buAutoNum type="arabicPeriod"/>
            </a:pPr>
            <a:r>
              <a:rPr lang="en-US" sz="2400" dirty="0"/>
              <a:t>How to deal with elevation (current treatment not standard across datasets)</a:t>
            </a:r>
          </a:p>
          <a:p>
            <a:pPr marL="514350" indent="-514350">
              <a:buFont typeface="+mj-lt"/>
              <a:buAutoNum type="arabicPeriod"/>
            </a:pPr>
            <a:endParaRPr lang="en-US" sz="1300" dirty="0"/>
          </a:p>
          <a:p>
            <a:endParaRPr lang="en-US" dirty="0"/>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7EA55BB2-AD88-D3F6-0FD4-A5C0EAA6EDAC}"/>
                  </a:ext>
                </a:extLst>
              </p14:cNvPr>
              <p14:cNvContentPartPr/>
              <p14:nvPr/>
            </p14:nvContentPartPr>
            <p14:xfrm>
              <a:off x="10644278" y="1099007"/>
              <a:ext cx="614520" cy="804240"/>
            </p14:xfrm>
          </p:contentPart>
        </mc:Choice>
        <mc:Fallback>
          <p:pic>
            <p:nvPicPr>
              <p:cNvPr id="4" name="Ink 3">
                <a:extLst>
                  <a:ext uri="{FF2B5EF4-FFF2-40B4-BE49-F238E27FC236}">
                    <a16:creationId xmlns:a16="http://schemas.microsoft.com/office/drawing/2014/main" id="{7EA55BB2-AD88-D3F6-0FD4-A5C0EAA6EDAC}"/>
                  </a:ext>
                </a:extLst>
              </p:cNvPr>
              <p:cNvPicPr/>
              <p:nvPr/>
            </p:nvPicPr>
            <p:blipFill>
              <a:blip r:embed="rId4"/>
              <a:stretch>
                <a:fillRect/>
              </a:stretch>
            </p:blipFill>
            <p:spPr>
              <a:xfrm>
                <a:off x="10635278" y="1090007"/>
                <a:ext cx="632160" cy="821880"/>
              </a:xfrm>
              <a:prstGeom prst="rect">
                <a:avLst/>
              </a:prstGeom>
            </p:spPr>
          </p:pic>
        </mc:Fallback>
      </mc:AlternateContent>
    </p:spTree>
    <p:extLst>
      <p:ext uri="{BB962C8B-B14F-4D97-AF65-F5344CB8AC3E}">
        <p14:creationId xmlns:p14="http://schemas.microsoft.com/office/powerpoint/2010/main" val="3632846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1180994-BC14-0B43-9253-5E8471E0FB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2D222-E8ED-3648-EAA9-9AFFAD9E93EF}"/>
              </a:ext>
            </a:extLst>
          </p:cNvPr>
          <p:cNvSpPr>
            <a:spLocks noGrp="1"/>
          </p:cNvSpPr>
          <p:nvPr>
            <p:ph type="title"/>
          </p:nvPr>
        </p:nvSpPr>
        <p:spPr>
          <a:xfrm>
            <a:off x="838200" y="365126"/>
            <a:ext cx="10515600" cy="799306"/>
          </a:xfrm>
        </p:spPr>
        <p:txBody>
          <a:bodyPr/>
          <a:lstStyle/>
          <a:p>
            <a:r>
              <a:rPr lang="en-US" dirty="0"/>
              <a:t>Atmospheric pH</a:t>
            </a:r>
          </a:p>
        </p:txBody>
      </p:sp>
      <p:sp>
        <p:nvSpPr>
          <p:cNvPr id="7" name="TextBox 6">
            <a:extLst>
              <a:ext uri="{FF2B5EF4-FFF2-40B4-BE49-F238E27FC236}">
                <a16:creationId xmlns:a16="http://schemas.microsoft.com/office/drawing/2014/main" id="{2BDF0D82-24B5-BCF3-81DD-A6C23D7795FC}"/>
              </a:ext>
            </a:extLst>
          </p:cNvPr>
          <p:cNvSpPr txBox="1"/>
          <p:nvPr/>
        </p:nvSpPr>
        <p:spPr>
          <a:xfrm>
            <a:off x="8422310" y="2505670"/>
            <a:ext cx="3962601" cy="923330"/>
          </a:xfrm>
          <a:prstGeom prst="rect">
            <a:avLst/>
          </a:prstGeom>
          <a:noFill/>
        </p:spPr>
        <p:txBody>
          <a:bodyPr wrap="square" rtlCol="0">
            <a:spAutoFit/>
          </a:bodyPr>
          <a:lstStyle/>
          <a:p>
            <a:r>
              <a:rPr lang="en-US" dirty="0"/>
              <a:t>Slope = 0.0253 pH units year</a:t>
            </a:r>
            <a:r>
              <a:rPr lang="en-US" baseline="30000" dirty="0"/>
              <a:t>-1 </a:t>
            </a:r>
          </a:p>
          <a:p>
            <a:endParaRPr lang="en-US" dirty="0"/>
          </a:p>
          <a:p>
            <a:r>
              <a:rPr lang="en-US" dirty="0"/>
              <a:t>Standardized slope = 0.9579</a:t>
            </a:r>
          </a:p>
        </p:txBody>
      </p:sp>
      <p:pic>
        <p:nvPicPr>
          <p:cNvPr id="11" name="Picture 10">
            <a:extLst>
              <a:ext uri="{FF2B5EF4-FFF2-40B4-BE49-F238E27FC236}">
                <a16:creationId xmlns:a16="http://schemas.microsoft.com/office/drawing/2014/main" id="{EA77C138-0E58-6633-33C2-B0873C11F90E}"/>
              </a:ext>
            </a:extLst>
          </p:cNvPr>
          <p:cNvPicPr>
            <a:picLocks noChangeAspect="1"/>
          </p:cNvPicPr>
          <p:nvPr/>
        </p:nvPicPr>
        <p:blipFill>
          <a:blip r:embed="rId2"/>
          <a:stretch>
            <a:fillRect/>
          </a:stretch>
        </p:blipFill>
        <p:spPr>
          <a:xfrm>
            <a:off x="425314" y="1613292"/>
            <a:ext cx="7315200" cy="4572000"/>
          </a:xfrm>
          <a:prstGeom prst="rect">
            <a:avLst/>
          </a:prstGeom>
        </p:spPr>
      </p:pic>
      <p:pic>
        <p:nvPicPr>
          <p:cNvPr id="12" name="Picture 11">
            <a:extLst>
              <a:ext uri="{FF2B5EF4-FFF2-40B4-BE49-F238E27FC236}">
                <a16:creationId xmlns:a16="http://schemas.microsoft.com/office/drawing/2014/main" id="{9EA4CA20-B0DD-6C6D-9F10-37B17EFB50DA}"/>
              </a:ext>
            </a:extLst>
          </p:cNvPr>
          <p:cNvPicPr>
            <a:picLocks noChangeAspect="1"/>
          </p:cNvPicPr>
          <p:nvPr/>
        </p:nvPicPr>
        <p:blipFill>
          <a:blip r:embed="rId3"/>
          <a:stretch>
            <a:fillRect/>
          </a:stretch>
        </p:blipFill>
        <p:spPr>
          <a:xfrm>
            <a:off x="8000277" y="91944"/>
            <a:ext cx="1260044" cy="1782501"/>
          </a:xfrm>
          <a:prstGeom prst="rect">
            <a:avLst/>
          </a:prstGeom>
        </p:spPr>
      </p:pic>
    </p:spTree>
    <p:extLst>
      <p:ext uri="{BB962C8B-B14F-4D97-AF65-F5344CB8AC3E}">
        <p14:creationId xmlns:p14="http://schemas.microsoft.com/office/powerpoint/2010/main" val="3138483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A289-2EAE-009E-FC64-A85A9159DB06}"/>
              </a:ext>
            </a:extLst>
          </p:cNvPr>
          <p:cNvSpPr>
            <a:spLocks noGrp="1"/>
          </p:cNvSpPr>
          <p:nvPr>
            <p:ph type="title"/>
          </p:nvPr>
        </p:nvSpPr>
        <p:spPr>
          <a:xfrm>
            <a:off x="838200" y="365126"/>
            <a:ext cx="10515600" cy="799306"/>
          </a:xfrm>
        </p:spPr>
        <p:txBody>
          <a:bodyPr/>
          <a:lstStyle/>
          <a:p>
            <a:r>
              <a:rPr lang="en-US" dirty="0"/>
              <a:t>Climate Driver</a:t>
            </a:r>
          </a:p>
        </p:txBody>
      </p:sp>
      <p:pic>
        <p:nvPicPr>
          <p:cNvPr id="8" name="Picture 7">
            <a:extLst>
              <a:ext uri="{FF2B5EF4-FFF2-40B4-BE49-F238E27FC236}">
                <a16:creationId xmlns:a16="http://schemas.microsoft.com/office/drawing/2014/main" id="{2F309B35-77B0-B43B-C4AA-C829D131A504}"/>
              </a:ext>
            </a:extLst>
          </p:cNvPr>
          <p:cNvPicPr>
            <a:picLocks noChangeAspect="1"/>
          </p:cNvPicPr>
          <p:nvPr/>
        </p:nvPicPr>
        <p:blipFill>
          <a:blip r:embed="rId2"/>
          <a:stretch>
            <a:fillRect/>
          </a:stretch>
        </p:blipFill>
        <p:spPr>
          <a:xfrm>
            <a:off x="597725" y="1297379"/>
            <a:ext cx="7315200" cy="4572000"/>
          </a:xfrm>
          <a:prstGeom prst="rect">
            <a:avLst/>
          </a:prstGeom>
        </p:spPr>
      </p:pic>
      <p:sp>
        <p:nvSpPr>
          <p:cNvPr id="9" name="TextBox 8">
            <a:extLst>
              <a:ext uri="{FF2B5EF4-FFF2-40B4-BE49-F238E27FC236}">
                <a16:creationId xmlns:a16="http://schemas.microsoft.com/office/drawing/2014/main" id="{9539A6D2-A659-5EA9-43A5-B2672309C085}"/>
              </a:ext>
            </a:extLst>
          </p:cNvPr>
          <p:cNvSpPr txBox="1"/>
          <p:nvPr/>
        </p:nvSpPr>
        <p:spPr>
          <a:xfrm>
            <a:off x="8399161" y="2234928"/>
            <a:ext cx="3292967" cy="923330"/>
          </a:xfrm>
          <a:prstGeom prst="rect">
            <a:avLst/>
          </a:prstGeom>
          <a:noFill/>
        </p:spPr>
        <p:txBody>
          <a:bodyPr wrap="square" rtlCol="0">
            <a:spAutoFit/>
          </a:bodyPr>
          <a:lstStyle/>
          <a:p>
            <a:r>
              <a:rPr lang="en-US" dirty="0"/>
              <a:t>Linear increases in mean annual temperature and precipitation</a:t>
            </a:r>
          </a:p>
        </p:txBody>
      </p:sp>
      <p:pic>
        <p:nvPicPr>
          <p:cNvPr id="10" name="Picture 9">
            <a:extLst>
              <a:ext uri="{FF2B5EF4-FFF2-40B4-BE49-F238E27FC236}">
                <a16:creationId xmlns:a16="http://schemas.microsoft.com/office/drawing/2014/main" id="{139DF20F-59FB-8A46-3E1D-E4FB659B9F20}"/>
              </a:ext>
            </a:extLst>
          </p:cNvPr>
          <p:cNvPicPr>
            <a:picLocks noChangeAspect="1"/>
          </p:cNvPicPr>
          <p:nvPr/>
        </p:nvPicPr>
        <p:blipFill>
          <a:blip r:embed="rId3"/>
          <a:srcRect b="14000"/>
          <a:stretch>
            <a:fillRect/>
          </a:stretch>
        </p:blipFill>
        <p:spPr>
          <a:xfrm>
            <a:off x="5783402" y="222653"/>
            <a:ext cx="1335028" cy="1351504"/>
          </a:xfrm>
          <a:prstGeom prst="rect">
            <a:avLst/>
          </a:prstGeom>
        </p:spPr>
      </p:pic>
      <p:grpSp>
        <p:nvGrpSpPr>
          <p:cNvPr id="5" name="Group 4">
            <a:extLst>
              <a:ext uri="{FF2B5EF4-FFF2-40B4-BE49-F238E27FC236}">
                <a16:creationId xmlns:a16="http://schemas.microsoft.com/office/drawing/2014/main" id="{E87C736D-7829-03AF-00BC-80C91CCF38ED}"/>
              </a:ext>
            </a:extLst>
          </p:cNvPr>
          <p:cNvGrpSpPr/>
          <p:nvPr/>
        </p:nvGrpSpPr>
        <p:grpSpPr>
          <a:xfrm>
            <a:off x="383643" y="2093204"/>
            <a:ext cx="7772400" cy="3652083"/>
            <a:chOff x="383643" y="2093204"/>
            <a:chExt cx="7772400" cy="3652083"/>
          </a:xfrm>
        </p:grpSpPr>
        <p:pic>
          <p:nvPicPr>
            <p:cNvPr id="3" name="Picture 2">
              <a:extLst>
                <a:ext uri="{FF2B5EF4-FFF2-40B4-BE49-F238E27FC236}">
                  <a16:creationId xmlns:a16="http://schemas.microsoft.com/office/drawing/2014/main" id="{DCCC4EF0-5716-939B-93C5-510092118768}"/>
                </a:ext>
              </a:extLst>
            </p:cNvPr>
            <p:cNvPicPr>
              <a:picLocks noChangeAspect="1"/>
            </p:cNvPicPr>
            <p:nvPr/>
          </p:nvPicPr>
          <p:blipFill>
            <a:blip r:embed="rId4"/>
            <a:stretch>
              <a:fillRect/>
            </a:stretch>
          </p:blipFill>
          <p:spPr>
            <a:xfrm>
              <a:off x="383643" y="2093204"/>
              <a:ext cx="7772400" cy="3494849"/>
            </a:xfrm>
            <a:prstGeom prst="rect">
              <a:avLst/>
            </a:prstGeom>
          </p:spPr>
        </p:pic>
        <p:sp>
          <p:nvSpPr>
            <p:cNvPr id="4" name="TextBox 3">
              <a:extLst>
                <a:ext uri="{FF2B5EF4-FFF2-40B4-BE49-F238E27FC236}">
                  <a16:creationId xmlns:a16="http://schemas.microsoft.com/office/drawing/2014/main" id="{AA3A02E6-F4AC-FE23-8435-BDCE09162099}"/>
                </a:ext>
              </a:extLst>
            </p:cNvPr>
            <p:cNvSpPr txBox="1"/>
            <p:nvPr/>
          </p:nvSpPr>
          <p:spPr>
            <a:xfrm>
              <a:off x="935736" y="5375955"/>
              <a:ext cx="2746248" cy="369332"/>
            </a:xfrm>
            <a:prstGeom prst="rect">
              <a:avLst/>
            </a:prstGeom>
            <a:noFill/>
          </p:spPr>
          <p:txBody>
            <a:bodyPr wrap="square" rtlCol="0">
              <a:spAutoFit/>
            </a:bodyPr>
            <a:lstStyle/>
            <a:p>
              <a:r>
                <a:rPr lang="en-US" dirty="0"/>
                <a:t>Possinger et al. 2025</a:t>
              </a:r>
            </a:p>
          </p:txBody>
        </p:sp>
      </p:grpSp>
    </p:spTree>
    <p:extLst>
      <p:ext uri="{BB962C8B-B14F-4D97-AF65-F5344CB8AC3E}">
        <p14:creationId xmlns:p14="http://schemas.microsoft.com/office/powerpoint/2010/main" val="2585035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0F721-5F90-C911-8CE2-24A31E8D1D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7DD38B-B65A-9E1B-83B3-5AA87771B1FE}"/>
              </a:ext>
            </a:extLst>
          </p:cNvPr>
          <p:cNvSpPr>
            <a:spLocks noGrp="1"/>
          </p:cNvSpPr>
          <p:nvPr>
            <p:ph type="title"/>
          </p:nvPr>
        </p:nvSpPr>
        <p:spPr>
          <a:xfrm>
            <a:off x="838200" y="365126"/>
            <a:ext cx="10515600" cy="799306"/>
          </a:xfrm>
        </p:spPr>
        <p:txBody>
          <a:bodyPr/>
          <a:lstStyle/>
          <a:p>
            <a:r>
              <a:rPr lang="en-US" dirty="0"/>
              <a:t>Atmospheric Driver</a:t>
            </a:r>
          </a:p>
        </p:txBody>
      </p:sp>
      <p:sp>
        <p:nvSpPr>
          <p:cNvPr id="7" name="TextBox 6">
            <a:extLst>
              <a:ext uri="{FF2B5EF4-FFF2-40B4-BE49-F238E27FC236}">
                <a16:creationId xmlns:a16="http://schemas.microsoft.com/office/drawing/2014/main" id="{73DBF837-722C-26DD-136E-D402B1D52B4C}"/>
              </a:ext>
            </a:extLst>
          </p:cNvPr>
          <p:cNvSpPr txBox="1"/>
          <p:nvPr/>
        </p:nvSpPr>
        <p:spPr>
          <a:xfrm>
            <a:off x="8805370" y="2505670"/>
            <a:ext cx="2931490" cy="923330"/>
          </a:xfrm>
          <a:prstGeom prst="rect">
            <a:avLst/>
          </a:prstGeom>
          <a:noFill/>
        </p:spPr>
        <p:txBody>
          <a:bodyPr wrap="square" rtlCol="0">
            <a:spAutoFit/>
          </a:bodyPr>
          <a:lstStyle/>
          <a:p>
            <a:r>
              <a:rPr lang="en-US" dirty="0"/>
              <a:t>Best fit is a segmented regression with a breakpoint at the year 2000</a:t>
            </a:r>
          </a:p>
        </p:txBody>
      </p:sp>
      <p:pic>
        <p:nvPicPr>
          <p:cNvPr id="12" name="Picture 11">
            <a:extLst>
              <a:ext uri="{FF2B5EF4-FFF2-40B4-BE49-F238E27FC236}">
                <a16:creationId xmlns:a16="http://schemas.microsoft.com/office/drawing/2014/main" id="{88B952CD-3EAC-9D0C-154E-96EDBEEE7E32}"/>
              </a:ext>
            </a:extLst>
          </p:cNvPr>
          <p:cNvPicPr>
            <a:picLocks noChangeAspect="1"/>
          </p:cNvPicPr>
          <p:nvPr/>
        </p:nvPicPr>
        <p:blipFill>
          <a:blip r:embed="rId2"/>
          <a:stretch>
            <a:fillRect/>
          </a:stretch>
        </p:blipFill>
        <p:spPr>
          <a:xfrm>
            <a:off x="8716969" y="52550"/>
            <a:ext cx="1260044" cy="1782501"/>
          </a:xfrm>
          <a:prstGeom prst="rect">
            <a:avLst/>
          </a:prstGeom>
        </p:spPr>
      </p:pic>
      <p:pic>
        <p:nvPicPr>
          <p:cNvPr id="4" name="Picture 3">
            <a:extLst>
              <a:ext uri="{FF2B5EF4-FFF2-40B4-BE49-F238E27FC236}">
                <a16:creationId xmlns:a16="http://schemas.microsoft.com/office/drawing/2014/main" id="{8E558B0B-6AD5-76E1-B5B5-6F71FF9B32FD}"/>
              </a:ext>
            </a:extLst>
          </p:cNvPr>
          <p:cNvPicPr>
            <a:picLocks noChangeAspect="1"/>
          </p:cNvPicPr>
          <p:nvPr/>
        </p:nvPicPr>
        <p:blipFill>
          <a:blip r:embed="rId3"/>
          <a:stretch>
            <a:fillRect/>
          </a:stretch>
        </p:blipFill>
        <p:spPr>
          <a:xfrm>
            <a:off x="355391" y="1695379"/>
            <a:ext cx="7772400" cy="4680580"/>
          </a:xfrm>
          <a:prstGeom prst="rect">
            <a:avLst/>
          </a:prstGeom>
        </p:spPr>
      </p:pic>
      <p:sp>
        <p:nvSpPr>
          <p:cNvPr id="5" name="Rectangle 4">
            <a:extLst>
              <a:ext uri="{FF2B5EF4-FFF2-40B4-BE49-F238E27FC236}">
                <a16:creationId xmlns:a16="http://schemas.microsoft.com/office/drawing/2014/main" id="{335828B5-5BC6-92ED-80DD-12833DB6C020}"/>
              </a:ext>
            </a:extLst>
          </p:cNvPr>
          <p:cNvSpPr/>
          <p:nvPr/>
        </p:nvSpPr>
        <p:spPr>
          <a:xfrm>
            <a:off x="1112108" y="3052119"/>
            <a:ext cx="1272746" cy="7290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5-Point Star 5">
            <a:extLst>
              <a:ext uri="{FF2B5EF4-FFF2-40B4-BE49-F238E27FC236}">
                <a16:creationId xmlns:a16="http://schemas.microsoft.com/office/drawing/2014/main" id="{06D6D08C-7007-32E8-8D31-9F02F3FD755F}"/>
              </a:ext>
            </a:extLst>
          </p:cNvPr>
          <p:cNvSpPr/>
          <p:nvPr/>
        </p:nvSpPr>
        <p:spPr>
          <a:xfrm>
            <a:off x="5068947" y="1614708"/>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5497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383E4F-6AF5-80BB-A834-88D13596B7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A3238F-41E7-AFAB-B72A-08066C6B028E}"/>
              </a:ext>
            </a:extLst>
          </p:cNvPr>
          <p:cNvSpPr>
            <a:spLocks noGrp="1"/>
          </p:cNvSpPr>
          <p:nvPr>
            <p:ph type="title"/>
          </p:nvPr>
        </p:nvSpPr>
        <p:spPr>
          <a:xfrm>
            <a:off x="838200" y="365126"/>
            <a:ext cx="10515600" cy="799306"/>
          </a:xfrm>
        </p:spPr>
        <p:txBody>
          <a:bodyPr/>
          <a:lstStyle/>
          <a:p>
            <a:r>
              <a:rPr lang="en-US" dirty="0"/>
              <a:t>Atmospheric Carbon</a:t>
            </a:r>
          </a:p>
        </p:txBody>
      </p:sp>
      <p:sp>
        <p:nvSpPr>
          <p:cNvPr id="7" name="TextBox 6">
            <a:extLst>
              <a:ext uri="{FF2B5EF4-FFF2-40B4-BE49-F238E27FC236}">
                <a16:creationId xmlns:a16="http://schemas.microsoft.com/office/drawing/2014/main" id="{17AC2614-6DF4-88D9-72A6-9D5984900910}"/>
              </a:ext>
            </a:extLst>
          </p:cNvPr>
          <p:cNvSpPr txBox="1"/>
          <p:nvPr/>
        </p:nvSpPr>
        <p:spPr>
          <a:xfrm>
            <a:off x="8422310" y="2505670"/>
            <a:ext cx="3962601" cy="923330"/>
          </a:xfrm>
          <a:prstGeom prst="rect">
            <a:avLst/>
          </a:prstGeom>
          <a:noFill/>
        </p:spPr>
        <p:txBody>
          <a:bodyPr wrap="square" rtlCol="0">
            <a:spAutoFit/>
          </a:bodyPr>
          <a:lstStyle/>
          <a:p>
            <a:r>
              <a:rPr lang="en-US" dirty="0"/>
              <a:t>Slope = 0.03812 mg/L year</a:t>
            </a:r>
            <a:r>
              <a:rPr lang="en-US" baseline="30000" dirty="0"/>
              <a:t>-1 </a:t>
            </a:r>
          </a:p>
          <a:p>
            <a:endParaRPr lang="en-US" dirty="0"/>
          </a:p>
          <a:p>
            <a:r>
              <a:rPr lang="en-US" dirty="0"/>
              <a:t>Standardized slope = 1.001</a:t>
            </a:r>
          </a:p>
        </p:txBody>
      </p:sp>
      <p:pic>
        <p:nvPicPr>
          <p:cNvPr id="8" name="Picture 7">
            <a:extLst>
              <a:ext uri="{FF2B5EF4-FFF2-40B4-BE49-F238E27FC236}">
                <a16:creationId xmlns:a16="http://schemas.microsoft.com/office/drawing/2014/main" id="{6F9F7DEE-CA16-05E1-BBF6-E6F57E1C6D9A}"/>
              </a:ext>
            </a:extLst>
          </p:cNvPr>
          <p:cNvPicPr>
            <a:picLocks noChangeAspect="1"/>
          </p:cNvPicPr>
          <p:nvPr/>
        </p:nvPicPr>
        <p:blipFill>
          <a:blip r:embed="rId3"/>
          <a:stretch>
            <a:fillRect/>
          </a:stretch>
        </p:blipFill>
        <p:spPr>
          <a:xfrm>
            <a:off x="667474" y="1652286"/>
            <a:ext cx="7315200" cy="4572000"/>
          </a:xfrm>
          <a:prstGeom prst="rect">
            <a:avLst/>
          </a:prstGeom>
        </p:spPr>
      </p:pic>
      <p:pic>
        <p:nvPicPr>
          <p:cNvPr id="9" name="Picture 8">
            <a:extLst>
              <a:ext uri="{FF2B5EF4-FFF2-40B4-BE49-F238E27FC236}">
                <a16:creationId xmlns:a16="http://schemas.microsoft.com/office/drawing/2014/main" id="{82684C5E-2E2C-E64A-F176-6945F2BFA600}"/>
              </a:ext>
            </a:extLst>
          </p:cNvPr>
          <p:cNvPicPr>
            <a:picLocks noChangeAspect="1"/>
          </p:cNvPicPr>
          <p:nvPr/>
        </p:nvPicPr>
        <p:blipFill>
          <a:blip r:embed="rId4"/>
          <a:stretch>
            <a:fillRect/>
          </a:stretch>
        </p:blipFill>
        <p:spPr>
          <a:xfrm>
            <a:off x="5997857" y="91944"/>
            <a:ext cx="1260044" cy="1782501"/>
          </a:xfrm>
          <a:prstGeom prst="rect">
            <a:avLst/>
          </a:prstGeom>
        </p:spPr>
      </p:pic>
    </p:spTree>
    <p:extLst>
      <p:ext uri="{BB962C8B-B14F-4D97-AF65-F5344CB8AC3E}">
        <p14:creationId xmlns:p14="http://schemas.microsoft.com/office/powerpoint/2010/main" val="1606712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AD764-5844-0266-F662-18641BA8E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1A8E3E-7A59-F5F5-AF9E-8434F936B6FA}"/>
              </a:ext>
            </a:extLst>
          </p:cNvPr>
          <p:cNvSpPr>
            <a:spLocks noGrp="1"/>
          </p:cNvSpPr>
          <p:nvPr>
            <p:ph type="title"/>
          </p:nvPr>
        </p:nvSpPr>
        <p:spPr>
          <a:xfrm>
            <a:off x="838200" y="365126"/>
            <a:ext cx="10515600" cy="799306"/>
          </a:xfrm>
        </p:spPr>
        <p:txBody>
          <a:bodyPr/>
          <a:lstStyle/>
          <a:p>
            <a:r>
              <a:rPr lang="en-US" dirty="0"/>
              <a:t>Atmospheric Carbon</a:t>
            </a:r>
          </a:p>
        </p:txBody>
      </p:sp>
      <p:sp>
        <p:nvSpPr>
          <p:cNvPr id="7" name="TextBox 6">
            <a:extLst>
              <a:ext uri="{FF2B5EF4-FFF2-40B4-BE49-F238E27FC236}">
                <a16:creationId xmlns:a16="http://schemas.microsoft.com/office/drawing/2014/main" id="{60F3F6A3-17A4-9997-C099-11ED188AD512}"/>
              </a:ext>
            </a:extLst>
          </p:cNvPr>
          <p:cNvSpPr txBox="1"/>
          <p:nvPr/>
        </p:nvSpPr>
        <p:spPr>
          <a:xfrm>
            <a:off x="8805370" y="2505670"/>
            <a:ext cx="2931490" cy="923330"/>
          </a:xfrm>
          <a:prstGeom prst="rect">
            <a:avLst/>
          </a:prstGeom>
          <a:noFill/>
        </p:spPr>
        <p:txBody>
          <a:bodyPr wrap="square" rtlCol="0">
            <a:spAutoFit/>
          </a:bodyPr>
          <a:lstStyle/>
          <a:p>
            <a:r>
              <a:rPr lang="en-US" dirty="0"/>
              <a:t>Best fit is segmented regression with a breakpoint at 2009</a:t>
            </a:r>
          </a:p>
        </p:txBody>
      </p:sp>
      <p:pic>
        <p:nvPicPr>
          <p:cNvPr id="12" name="Picture 11">
            <a:extLst>
              <a:ext uri="{FF2B5EF4-FFF2-40B4-BE49-F238E27FC236}">
                <a16:creationId xmlns:a16="http://schemas.microsoft.com/office/drawing/2014/main" id="{F64551CF-9E6C-E481-DECA-D177101E119B}"/>
              </a:ext>
            </a:extLst>
          </p:cNvPr>
          <p:cNvPicPr>
            <a:picLocks noChangeAspect="1"/>
          </p:cNvPicPr>
          <p:nvPr/>
        </p:nvPicPr>
        <p:blipFill>
          <a:blip r:embed="rId2"/>
          <a:stretch>
            <a:fillRect/>
          </a:stretch>
        </p:blipFill>
        <p:spPr>
          <a:xfrm>
            <a:off x="8716969" y="52550"/>
            <a:ext cx="1260044" cy="1782501"/>
          </a:xfrm>
          <a:prstGeom prst="rect">
            <a:avLst/>
          </a:prstGeom>
        </p:spPr>
      </p:pic>
      <p:pic>
        <p:nvPicPr>
          <p:cNvPr id="3" name="Picture 2">
            <a:extLst>
              <a:ext uri="{FF2B5EF4-FFF2-40B4-BE49-F238E27FC236}">
                <a16:creationId xmlns:a16="http://schemas.microsoft.com/office/drawing/2014/main" id="{ED6C3A79-D065-4810-3C6E-E77B4E4D9915}"/>
              </a:ext>
            </a:extLst>
          </p:cNvPr>
          <p:cNvPicPr>
            <a:picLocks noChangeAspect="1"/>
          </p:cNvPicPr>
          <p:nvPr/>
        </p:nvPicPr>
        <p:blipFill>
          <a:blip r:embed="rId3"/>
          <a:stretch>
            <a:fillRect/>
          </a:stretch>
        </p:blipFill>
        <p:spPr>
          <a:xfrm>
            <a:off x="596726" y="1477008"/>
            <a:ext cx="7772400" cy="4684553"/>
          </a:xfrm>
          <a:prstGeom prst="rect">
            <a:avLst/>
          </a:prstGeom>
        </p:spPr>
      </p:pic>
      <p:sp>
        <p:nvSpPr>
          <p:cNvPr id="4" name="5-Point Star 3">
            <a:extLst>
              <a:ext uri="{FF2B5EF4-FFF2-40B4-BE49-F238E27FC236}">
                <a16:creationId xmlns:a16="http://schemas.microsoft.com/office/drawing/2014/main" id="{B0049F3C-6BA8-27CB-B008-EA2779FA89B4}"/>
              </a:ext>
            </a:extLst>
          </p:cNvPr>
          <p:cNvSpPr/>
          <p:nvPr/>
        </p:nvSpPr>
        <p:spPr>
          <a:xfrm>
            <a:off x="5410323" y="1477008"/>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0991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81C98B-61A6-C040-1041-382052487F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CE8CE-3CD3-F533-D20F-C1E43D47989E}"/>
              </a:ext>
            </a:extLst>
          </p:cNvPr>
          <p:cNvSpPr>
            <a:spLocks noGrp="1"/>
          </p:cNvSpPr>
          <p:nvPr>
            <p:ph type="title"/>
          </p:nvPr>
        </p:nvSpPr>
        <p:spPr>
          <a:xfrm>
            <a:off x="838200" y="0"/>
            <a:ext cx="10515600" cy="1325563"/>
          </a:xfrm>
        </p:spPr>
        <p:txBody>
          <a:bodyPr/>
          <a:lstStyle/>
          <a:p>
            <a:r>
              <a:rPr lang="en-US" dirty="0"/>
              <a:t>Stream Response: DOC</a:t>
            </a:r>
          </a:p>
        </p:txBody>
      </p:sp>
      <p:pic>
        <p:nvPicPr>
          <p:cNvPr id="4" name="Picture 3">
            <a:extLst>
              <a:ext uri="{FF2B5EF4-FFF2-40B4-BE49-F238E27FC236}">
                <a16:creationId xmlns:a16="http://schemas.microsoft.com/office/drawing/2014/main" id="{596FB3E4-6794-9999-1B77-6BF3D1FE54CF}"/>
              </a:ext>
            </a:extLst>
          </p:cNvPr>
          <p:cNvPicPr>
            <a:picLocks noChangeAspect="1"/>
          </p:cNvPicPr>
          <p:nvPr/>
        </p:nvPicPr>
        <p:blipFill>
          <a:blip r:embed="rId2"/>
          <a:stretch>
            <a:fillRect/>
          </a:stretch>
        </p:blipFill>
        <p:spPr>
          <a:xfrm>
            <a:off x="366531" y="1455517"/>
            <a:ext cx="7315200" cy="4572000"/>
          </a:xfrm>
          <a:prstGeom prst="rect">
            <a:avLst/>
          </a:prstGeom>
        </p:spPr>
      </p:pic>
      <p:sp>
        <p:nvSpPr>
          <p:cNvPr id="5" name="TextBox 4">
            <a:extLst>
              <a:ext uri="{FF2B5EF4-FFF2-40B4-BE49-F238E27FC236}">
                <a16:creationId xmlns:a16="http://schemas.microsoft.com/office/drawing/2014/main" id="{1C265D37-D319-B6F7-92DF-386D9CC88BB8}"/>
              </a:ext>
            </a:extLst>
          </p:cNvPr>
          <p:cNvSpPr txBox="1"/>
          <p:nvPr/>
        </p:nvSpPr>
        <p:spPr>
          <a:xfrm>
            <a:off x="8422310" y="2505670"/>
            <a:ext cx="3962601" cy="923330"/>
          </a:xfrm>
          <a:prstGeom prst="rect">
            <a:avLst/>
          </a:prstGeom>
          <a:noFill/>
        </p:spPr>
        <p:txBody>
          <a:bodyPr wrap="square" rtlCol="0">
            <a:spAutoFit/>
          </a:bodyPr>
          <a:lstStyle/>
          <a:p>
            <a:r>
              <a:rPr lang="en-US" dirty="0"/>
              <a:t>Slope = 0.0331 mg/L year</a:t>
            </a:r>
            <a:r>
              <a:rPr lang="en-US" baseline="30000" dirty="0"/>
              <a:t>-1 </a:t>
            </a:r>
          </a:p>
          <a:p>
            <a:endParaRPr lang="en-US" dirty="0"/>
          </a:p>
          <a:p>
            <a:r>
              <a:rPr lang="en-US" dirty="0"/>
              <a:t>Standardized slope = 0.6833</a:t>
            </a:r>
          </a:p>
        </p:txBody>
      </p:sp>
      <p:pic>
        <p:nvPicPr>
          <p:cNvPr id="6" name="Picture 5">
            <a:extLst>
              <a:ext uri="{FF2B5EF4-FFF2-40B4-BE49-F238E27FC236}">
                <a16:creationId xmlns:a16="http://schemas.microsoft.com/office/drawing/2014/main" id="{B9C3B736-5545-13C0-2B6B-5C36FB9A7D08}"/>
              </a:ext>
            </a:extLst>
          </p:cNvPr>
          <p:cNvPicPr>
            <a:picLocks noChangeAspect="1"/>
          </p:cNvPicPr>
          <p:nvPr/>
        </p:nvPicPr>
        <p:blipFill>
          <a:blip r:embed="rId3"/>
          <a:stretch>
            <a:fillRect/>
          </a:stretch>
        </p:blipFill>
        <p:spPr>
          <a:xfrm>
            <a:off x="9393960" y="120540"/>
            <a:ext cx="2019300" cy="1270000"/>
          </a:xfrm>
          <a:prstGeom prst="rect">
            <a:avLst/>
          </a:prstGeom>
        </p:spPr>
      </p:pic>
    </p:spTree>
    <p:extLst>
      <p:ext uri="{BB962C8B-B14F-4D97-AF65-F5344CB8AC3E}">
        <p14:creationId xmlns:p14="http://schemas.microsoft.com/office/powerpoint/2010/main" val="35815587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3FCA-9942-AB06-C31B-318105CC6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7608D8-2187-61DF-3A6D-CE430822862E}"/>
              </a:ext>
            </a:extLst>
          </p:cNvPr>
          <p:cNvSpPr>
            <a:spLocks noGrp="1"/>
          </p:cNvSpPr>
          <p:nvPr>
            <p:ph type="title"/>
          </p:nvPr>
        </p:nvSpPr>
        <p:spPr>
          <a:xfrm>
            <a:off x="838200" y="0"/>
            <a:ext cx="10515600" cy="1325563"/>
          </a:xfrm>
        </p:spPr>
        <p:txBody>
          <a:bodyPr/>
          <a:lstStyle/>
          <a:p>
            <a:r>
              <a:rPr lang="en-US" dirty="0"/>
              <a:t>Stream Response: pH</a:t>
            </a:r>
          </a:p>
        </p:txBody>
      </p:sp>
      <p:pic>
        <p:nvPicPr>
          <p:cNvPr id="6" name="Picture 5">
            <a:extLst>
              <a:ext uri="{FF2B5EF4-FFF2-40B4-BE49-F238E27FC236}">
                <a16:creationId xmlns:a16="http://schemas.microsoft.com/office/drawing/2014/main" id="{42E268AB-98F8-ADEC-3CC1-A0C35FE9EC7C}"/>
              </a:ext>
            </a:extLst>
          </p:cNvPr>
          <p:cNvPicPr>
            <a:picLocks noChangeAspect="1"/>
          </p:cNvPicPr>
          <p:nvPr/>
        </p:nvPicPr>
        <p:blipFill>
          <a:blip r:embed="rId2"/>
          <a:stretch>
            <a:fillRect/>
          </a:stretch>
        </p:blipFill>
        <p:spPr>
          <a:xfrm>
            <a:off x="9334500" y="148322"/>
            <a:ext cx="2019300" cy="1270000"/>
          </a:xfrm>
          <a:prstGeom prst="rect">
            <a:avLst/>
          </a:prstGeom>
        </p:spPr>
      </p:pic>
      <p:sp>
        <p:nvSpPr>
          <p:cNvPr id="7" name="TextBox 6">
            <a:extLst>
              <a:ext uri="{FF2B5EF4-FFF2-40B4-BE49-F238E27FC236}">
                <a16:creationId xmlns:a16="http://schemas.microsoft.com/office/drawing/2014/main" id="{D5EB76F6-602C-1F07-40BA-1195E6BD5D3E}"/>
              </a:ext>
            </a:extLst>
          </p:cNvPr>
          <p:cNvSpPr txBox="1"/>
          <p:nvPr/>
        </p:nvSpPr>
        <p:spPr>
          <a:xfrm>
            <a:off x="8422311" y="2505670"/>
            <a:ext cx="3333272" cy="1477328"/>
          </a:xfrm>
          <a:prstGeom prst="rect">
            <a:avLst/>
          </a:prstGeom>
          <a:noFill/>
        </p:spPr>
        <p:txBody>
          <a:bodyPr wrap="square" rtlCol="0">
            <a:spAutoFit/>
          </a:bodyPr>
          <a:lstStyle/>
          <a:p>
            <a:r>
              <a:rPr lang="en-US" dirty="0"/>
              <a:t>Equally good fits for spline and breakpoint at year 2000 </a:t>
            </a:r>
          </a:p>
          <a:p>
            <a:endParaRPr lang="en-US" dirty="0"/>
          </a:p>
          <a:p>
            <a:r>
              <a:rPr lang="en-US" dirty="0"/>
              <a:t>Same breakpoint as for pH of atmospheric deposition</a:t>
            </a:r>
          </a:p>
        </p:txBody>
      </p:sp>
      <p:pic>
        <p:nvPicPr>
          <p:cNvPr id="8" name="Picture 7">
            <a:extLst>
              <a:ext uri="{FF2B5EF4-FFF2-40B4-BE49-F238E27FC236}">
                <a16:creationId xmlns:a16="http://schemas.microsoft.com/office/drawing/2014/main" id="{B5157CF0-6DC2-2D0C-BC10-66753141F7EF}"/>
              </a:ext>
            </a:extLst>
          </p:cNvPr>
          <p:cNvPicPr>
            <a:picLocks noChangeAspect="1"/>
          </p:cNvPicPr>
          <p:nvPr/>
        </p:nvPicPr>
        <p:blipFill>
          <a:blip r:embed="rId3"/>
          <a:stretch>
            <a:fillRect/>
          </a:stretch>
        </p:blipFill>
        <p:spPr>
          <a:xfrm>
            <a:off x="436417" y="1626285"/>
            <a:ext cx="7772400" cy="4681662"/>
          </a:xfrm>
          <a:prstGeom prst="rect">
            <a:avLst/>
          </a:prstGeom>
        </p:spPr>
      </p:pic>
      <p:sp>
        <p:nvSpPr>
          <p:cNvPr id="9" name="5-Point Star 8">
            <a:extLst>
              <a:ext uri="{FF2B5EF4-FFF2-40B4-BE49-F238E27FC236}">
                <a16:creationId xmlns:a16="http://schemas.microsoft.com/office/drawing/2014/main" id="{98CD5747-6040-E1BB-0B2B-4B2CE0A9ADF1}"/>
              </a:ext>
            </a:extLst>
          </p:cNvPr>
          <p:cNvSpPr/>
          <p:nvPr/>
        </p:nvSpPr>
        <p:spPr>
          <a:xfrm>
            <a:off x="5190867" y="1547489"/>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5891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F64A9-F439-0EA8-2571-A8E75DC97C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857784-270E-CADB-5017-D40FD8E43E46}"/>
              </a:ext>
            </a:extLst>
          </p:cNvPr>
          <p:cNvSpPr>
            <a:spLocks noGrp="1"/>
          </p:cNvSpPr>
          <p:nvPr>
            <p:ph type="title"/>
          </p:nvPr>
        </p:nvSpPr>
        <p:spPr>
          <a:xfrm>
            <a:off x="838200" y="0"/>
            <a:ext cx="10515600" cy="1325563"/>
          </a:xfrm>
        </p:spPr>
        <p:txBody>
          <a:bodyPr/>
          <a:lstStyle/>
          <a:p>
            <a:r>
              <a:rPr lang="en-US" dirty="0"/>
              <a:t>Stream Response: DOC</a:t>
            </a:r>
          </a:p>
        </p:txBody>
      </p:sp>
      <p:sp>
        <p:nvSpPr>
          <p:cNvPr id="5" name="TextBox 4">
            <a:extLst>
              <a:ext uri="{FF2B5EF4-FFF2-40B4-BE49-F238E27FC236}">
                <a16:creationId xmlns:a16="http://schemas.microsoft.com/office/drawing/2014/main" id="{C0B80557-A4E3-12C2-6252-765330D90A51}"/>
              </a:ext>
            </a:extLst>
          </p:cNvPr>
          <p:cNvSpPr txBox="1"/>
          <p:nvPr/>
        </p:nvSpPr>
        <p:spPr>
          <a:xfrm>
            <a:off x="8422311" y="2505670"/>
            <a:ext cx="3333272" cy="1477328"/>
          </a:xfrm>
          <a:prstGeom prst="rect">
            <a:avLst/>
          </a:prstGeom>
          <a:noFill/>
        </p:spPr>
        <p:txBody>
          <a:bodyPr wrap="square" rtlCol="0">
            <a:spAutoFit/>
          </a:bodyPr>
          <a:lstStyle/>
          <a:p>
            <a:r>
              <a:rPr lang="en-US" dirty="0"/>
              <a:t>Best fit is a breakpoint in 1996, then spline, then linear</a:t>
            </a:r>
          </a:p>
          <a:p>
            <a:endParaRPr lang="en-US" dirty="0"/>
          </a:p>
          <a:p>
            <a:r>
              <a:rPr lang="en-US" dirty="0"/>
              <a:t>This is watershed 6, still need watershed 1</a:t>
            </a:r>
          </a:p>
        </p:txBody>
      </p:sp>
      <p:pic>
        <p:nvPicPr>
          <p:cNvPr id="6" name="Picture 5">
            <a:extLst>
              <a:ext uri="{FF2B5EF4-FFF2-40B4-BE49-F238E27FC236}">
                <a16:creationId xmlns:a16="http://schemas.microsoft.com/office/drawing/2014/main" id="{5C37A5A2-D21A-54D0-E627-CEFDC5698978}"/>
              </a:ext>
            </a:extLst>
          </p:cNvPr>
          <p:cNvPicPr>
            <a:picLocks noChangeAspect="1"/>
          </p:cNvPicPr>
          <p:nvPr/>
        </p:nvPicPr>
        <p:blipFill>
          <a:blip r:embed="rId2"/>
          <a:stretch>
            <a:fillRect/>
          </a:stretch>
        </p:blipFill>
        <p:spPr>
          <a:xfrm>
            <a:off x="9334500" y="148322"/>
            <a:ext cx="2019300" cy="1270000"/>
          </a:xfrm>
          <a:prstGeom prst="rect">
            <a:avLst/>
          </a:prstGeom>
        </p:spPr>
      </p:pic>
      <p:pic>
        <p:nvPicPr>
          <p:cNvPr id="3" name="Picture 2">
            <a:extLst>
              <a:ext uri="{FF2B5EF4-FFF2-40B4-BE49-F238E27FC236}">
                <a16:creationId xmlns:a16="http://schemas.microsoft.com/office/drawing/2014/main" id="{6A7296CE-EFF9-B806-44AE-C8315DDE1F67}"/>
              </a:ext>
            </a:extLst>
          </p:cNvPr>
          <p:cNvPicPr>
            <a:picLocks noChangeAspect="1"/>
          </p:cNvPicPr>
          <p:nvPr/>
        </p:nvPicPr>
        <p:blipFill>
          <a:blip r:embed="rId3"/>
          <a:stretch>
            <a:fillRect/>
          </a:stretch>
        </p:blipFill>
        <p:spPr>
          <a:xfrm>
            <a:off x="436418" y="1511080"/>
            <a:ext cx="7772400" cy="4713126"/>
          </a:xfrm>
          <a:prstGeom prst="rect">
            <a:avLst/>
          </a:prstGeom>
        </p:spPr>
      </p:pic>
      <p:sp>
        <p:nvSpPr>
          <p:cNvPr id="7" name="5-Point Star 6">
            <a:extLst>
              <a:ext uri="{FF2B5EF4-FFF2-40B4-BE49-F238E27FC236}">
                <a16:creationId xmlns:a16="http://schemas.microsoft.com/office/drawing/2014/main" id="{663ACD70-4A4D-8023-6F0C-B4BAF33B888C}"/>
              </a:ext>
            </a:extLst>
          </p:cNvPr>
          <p:cNvSpPr/>
          <p:nvPr/>
        </p:nvSpPr>
        <p:spPr>
          <a:xfrm>
            <a:off x="5190867" y="1547489"/>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77608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44B2D-D6CC-3656-831C-54D59E75413E}"/>
              </a:ext>
            </a:extLst>
          </p:cNvPr>
          <p:cNvSpPr>
            <a:spLocks noGrp="1"/>
          </p:cNvSpPr>
          <p:nvPr>
            <p:ph type="title"/>
          </p:nvPr>
        </p:nvSpPr>
        <p:spPr>
          <a:xfrm>
            <a:off x="838200" y="0"/>
            <a:ext cx="10515600" cy="1325563"/>
          </a:xfrm>
        </p:spPr>
        <p:txBody>
          <a:bodyPr/>
          <a:lstStyle/>
          <a:p>
            <a:r>
              <a:rPr lang="en-US" dirty="0"/>
              <a:t>Stream Response: DIC</a:t>
            </a:r>
          </a:p>
        </p:txBody>
      </p:sp>
      <p:sp>
        <p:nvSpPr>
          <p:cNvPr id="9" name="TextBox 8">
            <a:extLst>
              <a:ext uri="{FF2B5EF4-FFF2-40B4-BE49-F238E27FC236}">
                <a16:creationId xmlns:a16="http://schemas.microsoft.com/office/drawing/2014/main" id="{B73C09C3-8895-29E1-CE11-81271219F12C}"/>
              </a:ext>
            </a:extLst>
          </p:cNvPr>
          <p:cNvSpPr txBox="1"/>
          <p:nvPr/>
        </p:nvSpPr>
        <p:spPr>
          <a:xfrm>
            <a:off x="8422311" y="2505670"/>
            <a:ext cx="3188950" cy="646331"/>
          </a:xfrm>
          <a:prstGeom prst="rect">
            <a:avLst/>
          </a:prstGeom>
          <a:noFill/>
        </p:spPr>
        <p:txBody>
          <a:bodyPr wrap="square" rtlCol="0">
            <a:spAutoFit/>
          </a:bodyPr>
          <a:lstStyle/>
          <a:p>
            <a:r>
              <a:rPr lang="en-US" dirty="0"/>
              <a:t>Significant spline fit with inflection point ~2015</a:t>
            </a:r>
          </a:p>
        </p:txBody>
      </p:sp>
      <p:pic>
        <p:nvPicPr>
          <p:cNvPr id="12" name="Picture 11">
            <a:extLst>
              <a:ext uri="{FF2B5EF4-FFF2-40B4-BE49-F238E27FC236}">
                <a16:creationId xmlns:a16="http://schemas.microsoft.com/office/drawing/2014/main" id="{5F7EDA97-25CA-3CA4-8077-271E2D867C1D}"/>
              </a:ext>
            </a:extLst>
          </p:cNvPr>
          <p:cNvPicPr>
            <a:picLocks noChangeAspect="1"/>
          </p:cNvPicPr>
          <p:nvPr/>
        </p:nvPicPr>
        <p:blipFill>
          <a:blip r:embed="rId2"/>
          <a:stretch>
            <a:fillRect/>
          </a:stretch>
        </p:blipFill>
        <p:spPr>
          <a:xfrm>
            <a:off x="9591960" y="10617"/>
            <a:ext cx="2019300" cy="1270000"/>
          </a:xfrm>
          <a:prstGeom prst="rect">
            <a:avLst/>
          </a:prstGeom>
        </p:spPr>
      </p:pic>
      <p:pic>
        <p:nvPicPr>
          <p:cNvPr id="3" name="Picture 2">
            <a:extLst>
              <a:ext uri="{FF2B5EF4-FFF2-40B4-BE49-F238E27FC236}">
                <a16:creationId xmlns:a16="http://schemas.microsoft.com/office/drawing/2014/main" id="{923AD51B-DE0F-71B1-7F5D-AAD742772A0A}"/>
              </a:ext>
            </a:extLst>
          </p:cNvPr>
          <p:cNvPicPr>
            <a:picLocks noChangeAspect="1"/>
          </p:cNvPicPr>
          <p:nvPr/>
        </p:nvPicPr>
        <p:blipFill>
          <a:blip r:embed="rId3"/>
          <a:stretch>
            <a:fillRect/>
          </a:stretch>
        </p:blipFill>
        <p:spPr>
          <a:xfrm>
            <a:off x="356616" y="1545804"/>
            <a:ext cx="7772400" cy="4658249"/>
          </a:xfrm>
          <a:prstGeom prst="rect">
            <a:avLst/>
          </a:prstGeom>
        </p:spPr>
      </p:pic>
    </p:spTree>
    <p:extLst>
      <p:ext uri="{BB962C8B-B14F-4D97-AF65-F5344CB8AC3E}">
        <p14:creationId xmlns:p14="http://schemas.microsoft.com/office/powerpoint/2010/main" val="1801159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C484BF-B965-206D-E8D3-D80F512C20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39FF3A-A7B7-6EA2-6635-C8773256420F}"/>
              </a:ext>
            </a:extLst>
          </p:cNvPr>
          <p:cNvSpPr>
            <a:spLocks noGrp="1"/>
          </p:cNvSpPr>
          <p:nvPr>
            <p:ph type="title"/>
          </p:nvPr>
        </p:nvSpPr>
        <p:spPr>
          <a:xfrm>
            <a:off x="838200" y="0"/>
            <a:ext cx="10515600" cy="1325563"/>
          </a:xfrm>
        </p:spPr>
        <p:txBody>
          <a:bodyPr/>
          <a:lstStyle/>
          <a:p>
            <a:r>
              <a:rPr lang="en-US" dirty="0"/>
              <a:t>Stream Response</a:t>
            </a:r>
          </a:p>
        </p:txBody>
      </p:sp>
      <p:sp>
        <p:nvSpPr>
          <p:cNvPr id="9" name="TextBox 8">
            <a:extLst>
              <a:ext uri="{FF2B5EF4-FFF2-40B4-BE49-F238E27FC236}">
                <a16:creationId xmlns:a16="http://schemas.microsoft.com/office/drawing/2014/main" id="{513954CC-D65E-9262-EE7E-3C6F64117BD9}"/>
              </a:ext>
            </a:extLst>
          </p:cNvPr>
          <p:cNvSpPr txBox="1"/>
          <p:nvPr/>
        </p:nvSpPr>
        <p:spPr>
          <a:xfrm>
            <a:off x="8422310" y="2505670"/>
            <a:ext cx="3962601" cy="923330"/>
          </a:xfrm>
          <a:prstGeom prst="rect">
            <a:avLst/>
          </a:prstGeom>
          <a:noFill/>
        </p:spPr>
        <p:txBody>
          <a:bodyPr wrap="square" rtlCol="0">
            <a:spAutoFit/>
          </a:bodyPr>
          <a:lstStyle/>
          <a:p>
            <a:r>
              <a:rPr lang="en-US" dirty="0"/>
              <a:t>Slope = NS</a:t>
            </a:r>
            <a:endParaRPr lang="en-US" baseline="30000" dirty="0"/>
          </a:p>
          <a:p>
            <a:endParaRPr lang="en-US" dirty="0"/>
          </a:p>
          <a:p>
            <a:r>
              <a:rPr lang="en-US" dirty="0"/>
              <a:t>Standardized slope = NS</a:t>
            </a:r>
          </a:p>
        </p:txBody>
      </p:sp>
      <p:pic>
        <p:nvPicPr>
          <p:cNvPr id="11" name="Picture 10">
            <a:extLst>
              <a:ext uri="{FF2B5EF4-FFF2-40B4-BE49-F238E27FC236}">
                <a16:creationId xmlns:a16="http://schemas.microsoft.com/office/drawing/2014/main" id="{8C5E0926-5ADC-A912-AC05-776099E09C18}"/>
              </a:ext>
            </a:extLst>
          </p:cNvPr>
          <p:cNvPicPr>
            <a:picLocks noChangeAspect="1"/>
          </p:cNvPicPr>
          <p:nvPr/>
        </p:nvPicPr>
        <p:blipFill>
          <a:blip r:embed="rId2"/>
          <a:stretch>
            <a:fillRect/>
          </a:stretch>
        </p:blipFill>
        <p:spPr>
          <a:xfrm>
            <a:off x="297084" y="1490240"/>
            <a:ext cx="7315200" cy="4572000"/>
          </a:xfrm>
          <a:prstGeom prst="rect">
            <a:avLst/>
          </a:prstGeom>
        </p:spPr>
      </p:pic>
      <p:pic>
        <p:nvPicPr>
          <p:cNvPr id="12" name="Picture 11">
            <a:extLst>
              <a:ext uri="{FF2B5EF4-FFF2-40B4-BE49-F238E27FC236}">
                <a16:creationId xmlns:a16="http://schemas.microsoft.com/office/drawing/2014/main" id="{061287C1-927A-A4A8-7899-8F06BD466832}"/>
              </a:ext>
            </a:extLst>
          </p:cNvPr>
          <p:cNvPicPr>
            <a:picLocks noChangeAspect="1"/>
          </p:cNvPicPr>
          <p:nvPr/>
        </p:nvPicPr>
        <p:blipFill>
          <a:blip r:embed="rId3"/>
          <a:stretch>
            <a:fillRect/>
          </a:stretch>
        </p:blipFill>
        <p:spPr>
          <a:xfrm>
            <a:off x="5592984" y="137902"/>
            <a:ext cx="2019300" cy="1270000"/>
          </a:xfrm>
          <a:prstGeom prst="rect">
            <a:avLst/>
          </a:prstGeom>
        </p:spPr>
      </p:pic>
    </p:spTree>
    <p:extLst>
      <p:ext uri="{BB962C8B-B14F-4D97-AF65-F5344CB8AC3E}">
        <p14:creationId xmlns:p14="http://schemas.microsoft.com/office/powerpoint/2010/main" val="3799525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4FCECF-3FA6-5676-A0DC-69ED233193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0913C-2B06-AB02-AD8E-B325E962120E}"/>
              </a:ext>
            </a:extLst>
          </p:cNvPr>
          <p:cNvSpPr>
            <a:spLocks noGrp="1"/>
          </p:cNvSpPr>
          <p:nvPr>
            <p:ph type="title"/>
          </p:nvPr>
        </p:nvSpPr>
        <p:spPr>
          <a:xfrm>
            <a:off x="838200" y="0"/>
            <a:ext cx="10515600" cy="1325563"/>
          </a:xfrm>
        </p:spPr>
        <p:txBody>
          <a:bodyPr/>
          <a:lstStyle/>
          <a:p>
            <a:r>
              <a:rPr lang="en-US" dirty="0"/>
              <a:t>Plant Response</a:t>
            </a:r>
          </a:p>
        </p:txBody>
      </p:sp>
      <p:pic>
        <p:nvPicPr>
          <p:cNvPr id="4" name="Picture 3">
            <a:extLst>
              <a:ext uri="{FF2B5EF4-FFF2-40B4-BE49-F238E27FC236}">
                <a16:creationId xmlns:a16="http://schemas.microsoft.com/office/drawing/2014/main" id="{FDEA7110-F4C2-DC3C-C020-DF9F87660958}"/>
              </a:ext>
            </a:extLst>
          </p:cNvPr>
          <p:cNvPicPr>
            <a:picLocks noChangeAspect="1"/>
          </p:cNvPicPr>
          <p:nvPr/>
        </p:nvPicPr>
        <p:blipFill>
          <a:blip r:embed="rId2"/>
          <a:stretch>
            <a:fillRect/>
          </a:stretch>
        </p:blipFill>
        <p:spPr>
          <a:xfrm>
            <a:off x="12575017" y="1320299"/>
            <a:ext cx="5682382" cy="3551489"/>
          </a:xfrm>
          <a:prstGeom prst="rect">
            <a:avLst/>
          </a:prstGeom>
        </p:spPr>
      </p:pic>
      <p:pic>
        <p:nvPicPr>
          <p:cNvPr id="10" name="Picture 9">
            <a:extLst>
              <a:ext uri="{FF2B5EF4-FFF2-40B4-BE49-F238E27FC236}">
                <a16:creationId xmlns:a16="http://schemas.microsoft.com/office/drawing/2014/main" id="{22FA36CA-CA8E-5272-BCCC-DDDF8DF884F7}"/>
              </a:ext>
            </a:extLst>
          </p:cNvPr>
          <p:cNvPicPr>
            <a:picLocks noChangeAspect="1"/>
          </p:cNvPicPr>
          <p:nvPr/>
        </p:nvPicPr>
        <p:blipFill>
          <a:blip r:embed="rId3"/>
          <a:stretch>
            <a:fillRect/>
          </a:stretch>
        </p:blipFill>
        <p:spPr>
          <a:xfrm>
            <a:off x="320232" y="1562059"/>
            <a:ext cx="7315200" cy="4572000"/>
          </a:xfrm>
          <a:prstGeom prst="rect">
            <a:avLst/>
          </a:prstGeom>
        </p:spPr>
      </p:pic>
      <p:sp>
        <p:nvSpPr>
          <p:cNvPr id="11" name="TextBox 10">
            <a:extLst>
              <a:ext uri="{FF2B5EF4-FFF2-40B4-BE49-F238E27FC236}">
                <a16:creationId xmlns:a16="http://schemas.microsoft.com/office/drawing/2014/main" id="{DACD6BBB-5D58-001F-2FE9-AAB6F37C1512}"/>
              </a:ext>
            </a:extLst>
          </p:cNvPr>
          <p:cNvSpPr txBox="1"/>
          <p:nvPr/>
        </p:nvSpPr>
        <p:spPr>
          <a:xfrm>
            <a:off x="8422310" y="2505670"/>
            <a:ext cx="3962601" cy="923330"/>
          </a:xfrm>
          <a:prstGeom prst="rect">
            <a:avLst/>
          </a:prstGeom>
          <a:noFill/>
        </p:spPr>
        <p:txBody>
          <a:bodyPr wrap="square" rtlCol="0">
            <a:spAutoFit/>
          </a:bodyPr>
          <a:lstStyle/>
          <a:p>
            <a:r>
              <a:rPr lang="en-US" dirty="0"/>
              <a:t>Slope = 0.1994 g year</a:t>
            </a:r>
            <a:r>
              <a:rPr lang="en-US" baseline="30000" dirty="0"/>
              <a:t>-1 </a:t>
            </a:r>
          </a:p>
          <a:p>
            <a:endParaRPr lang="en-US" dirty="0"/>
          </a:p>
          <a:p>
            <a:r>
              <a:rPr lang="en-US" dirty="0"/>
              <a:t>Standardized slope = 0.3406</a:t>
            </a:r>
          </a:p>
        </p:txBody>
      </p:sp>
      <p:pic>
        <p:nvPicPr>
          <p:cNvPr id="12" name="Picture 11">
            <a:extLst>
              <a:ext uri="{FF2B5EF4-FFF2-40B4-BE49-F238E27FC236}">
                <a16:creationId xmlns:a16="http://schemas.microsoft.com/office/drawing/2014/main" id="{FB2C890C-610B-B8EC-0A2F-698D147D160D}"/>
              </a:ext>
            </a:extLst>
          </p:cNvPr>
          <p:cNvPicPr>
            <a:picLocks noChangeAspect="1"/>
          </p:cNvPicPr>
          <p:nvPr/>
        </p:nvPicPr>
        <p:blipFill>
          <a:blip r:embed="rId4"/>
          <a:stretch>
            <a:fillRect/>
          </a:stretch>
        </p:blipFill>
        <p:spPr>
          <a:xfrm>
            <a:off x="4572885" y="0"/>
            <a:ext cx="2374900" cy="2235200"/>
          </a:xfrm>
          <a:prstGeom prst="rect">
            <a:avLst/>
          </a:prstGeom>
        </p:spPr>
      </p:pic>
    </p:spTree>
    <p:extLst>
      <p:ext uri="{BB962C8B-B14F-4D97-AF65-F5344CB8AC3E}">
        <p14:creationId xmlns:p14="http://schemas.microsoft.com/office/powerpoint/2010/main" val="35135579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3CFA6-824B-AF08-5DA5-5C18B7CB7BC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95C508AB-E083-EB15-6BAF-B2A86DE62882}"/>
              </a:ext>
            </a:extLst>
          </p:cNvPr>
          <p:cNvPicPr>
            <a:picLocks noChangeAspect="1"/>
          </p:cNvPicPr>
          <p:nvPr/>
        </p:nvPicPr>
        <p:blipFill>
          <a:blip r:embed="rId2"/>
          <a:srcRect r="1639"/>
          <a:stretch>
            <a:fillRect/>
          </a:stretch>
        </p:blipFill>
        <p:spPr>
          <a:xfrm>
            <a:off x="285232" y="1491765"/>
            <a:ext cx="7645021" cy="4610636"/>
          </a:xfrm>
          <a:prstGeom prst="rect">
            <a:avLst/>
          </a:prstGeom>
        </p:spPr>
      </p:pic>
      <p:sp>
        <p:nvSpPr>
          <p:cNvPr id="2" name="Title 1">
            <a:extLst>
              <a:ext uri="{FF2B5EF4-FFF2-40B4-BE49-F238E27FC236}">
                <a16:creationId xmlns:a16="http://schemas.microsoft.com/office/drawing/2014/main" id="{FC0EC6A3-317C-112B-64CE-F63EF44F7386}"/>
              </a:ext>
            </a:extLst>
          </p:cNvPr>
          <p:cNvSpPr>
            <a:spLocks noGrp="1"/>
          </p:cNvSpPr>
          <p:nvPr>
            <p:ph type="title"/>
          </p:nvPr>
        </p:nvSpPr>
        <p:spPr>
          <a:xfrm>
            <a:off x="285232" y="-5264"/>
            <a:ext cx="10515600" cy="1325563"/>
          </a:xfrm>
        </p:spPr>
        <p:txBody>
          <a:bodyPr/>
          <a:lstStyle/>
          <a:p>
            <a:r>
              <a:rPr lang="en-US" dirty="0"/>
              <a:t>Plant Response: Aboveground Biomass</a:t>
            </a:r>
          </a:p>
        </p:txBody>
      </p:sp>
      <p:pic>
        <p:nvPicPr>
          <p:cNvPr id="4" name="Picture 3">
            <a:extLst>
              <a:ext uri="{FF2B5EF4-FFF2-40B4-BE49-F238E27FC236}">
                <a16:creationId xmlns:a16="http://schemas.microsoft.com/office/drawing/2014/main" id="{6FF5B939-93E9-30B9-50EE-C1B452CFD499}"/>
              </a:ext>
            </a:extLst>
          </p:cNvPr>
          <p:cNvPicPr>
            <a:picLocks noChangeAspect="1"/>
          </p:cNvPicPr>
          <p:nvPr/>
        </p:nvPicPr>
        <p:blipFill>
          <a:blip r:embed="rId3"/>
          <a:stretch>
            <a:fillRect/>
          </a:stretch>
        </p:blipFill>
        <p:spPr>
          <a:xfrm>
            <a:off x="12192000" y="1405142"/>
            <a:ext cx="5682382" cy="3551489"/>
          </a:xfrm>
          <a:prstGeom prst="rect">
            <a:avLst/>
          </a:prstGeom>
        </p:spPr>
      </p:pic>
      <p:pic>
        <p:nvPicPr>
          <p:cNvPr id="12" name="Picture 11">
            <a:extLst>
              <a:ext uri="{FF2B5EF4-FFF2-40B4-BE49-F238E27FC236}">
                <a16:creationId xmlns:a16="http://schemas.microsoft.com/office/drawing/2014/main" id="{0F97FD33-29B8-B6FC-D931-7DFEE3F58E87}"/>
              </a:ext>
            </a:extLst>
          </p:cNvPr>
          <p:cNvPicPr>
            <a:picLocks noChangeAspect="1"/>
          </p:cNvPicPr>
          <p:nvPr/>
        </p:nvPicPr>
        <p:blipFill>
          <a:blip r:embed="rId4"/>
          <a:stretch>
            <a:fillRect/>
          </a:stretch>
        </p:blipFill>
        <p:spPr>
          <a:xfrm>
            <a:off x="9339957" y="202699"/>
            <a:ext cx="2374900" cy="2235200"/>
          </a:xfrm>
          <a:prstGeom prst="rect">
            <a:avLst/>
          </a:prstGeom>
        </p:spPr>
      </p:pic>
      <p:sp>
        <p:nvSpPr>
          <p:cNvPr id="5" name="TextBox 4">
            <a:extLst>
              <a:ext uri="{FF2B5EF4-FFF2-40B4-BE49-F238E27FC236}">
                <a16:creationId xmlns:a16="http://schemas.microsoft.com/office/drawing/2014/main" id="{2A5C724D-1A45-8B63-1688-97F1B5B9FE89}"/>
              </a:ext>
            </a:extLst>
          </p:cNvPr>
          <p:cNvSpPr txBox="1"/>
          <p:nvPr/>
        </p:nvSpPr>
        <p:spPr>
          <a:xfrm>
            <a:off x="8422311" y="2505670"/>
            <a:ext cx="3429000" cy="2308324"/>
          </a:xfrm>
          <a:prstGeom prst="rect">
            <a:avLst/>
          </a:prstGeom>
          <a:noFill/>
        </p:spPr>
        <p:txBody>
          <a:bodyPr wrap="square" rtlCol="0">
            <a:spAutoFit/>
          </a:bodyPr>
          <a:lstStyle/>
          <a:p>
            <a:endParaRPr lang="en-US" dirty="0"/>
          </a:p>
          <a:p>
            <a:r>
              <a:rPr lang="en-US" dirty="0"/>
              <a:t>Linear increase in WS1 but no trend in WS6</a:t>
            </a:r>
          </a:p>
          <a:p>
            <a:endParaRPr lang="en-US" dirty="0"/>
          </a:p>
          <a:p>
            <a:r>
              <a:rPr lang="en-US" dirty="0"/>
              <a:t>Not enough data to test anything but linear fit</a:t>
            </a:r>
          </a:p>
          <a:p>
            <a:endParaRPr lang="en-US" dirty="0"/>
          </a:p>
          <a:p>
            <a:r>
              <a:rPr lang="en-US" dirty="0"/>
              <a:t>Obviously WS5 is regrowing</a:t>
            </a:r>
          </a:p>
        </p:txBody>
      </p:sp>
      <p:sp>
        <p:nvSpPr>
          <p:cNvPr id="6" name="5-Point Star 5">
            <a:extLst>
              <a:ext uri="{FF2B5EF4-FFF2-40B4-BE49-F238E27FC236}">
                <a16:creationId xmlns:a16="http://schemas.microsoft.com/office/drawing/2014/main" id="{B6E59114-09F9-28F2-2BE5-276AEBA323FC}"/>
              </a:ext>
            </a:extLst>
          </p:cNvPr>
          <p:cNvSpPr/>
          <p:nvPr/>
        </p:nvSpPr>
        <p:spPr>
          <a:xfrm>
            <a:off x="2069865" y="1790275"/>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51907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026CA-EF57-56A5-DB08-5BE95E79B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9D0605-0AA8-2771-2870-82A161B08529}"/>
              </a:ext>
            </a:extLst>
          </p:cNvPr>
          <p:cNvSpPr>
            <a:spLocks noGrp="1"/>
          </p:cNvSpPr>
          <p:nvPr>
            <p:ph type="title"/>
          </p:nvPr>
        </p:nvSpPr>
        <p:spPr>
          <a:xfrm>
            <a:off x="838200" y="0"/>
            <a:ext cx="10515600" cy="1325563"/>
          </a:xfrm>
        </p:spPr>
        <p:txBody>
          <a:bodyPr/>
          <a:lstStyle/>
          <a:p>
            <a:r>
              <a:rPr lang="en-US" dirty="0"/>
              <a:t>Plant Response: Litterfall</a:t>
            </a:r>
          </a:p>
        </p:txBody>
      </p:sp>
      <p:pic>
        <p:nvPicPr>
          <p:cNvPr id="4" name="Picture 3">
            <a:extLst>
              <a:ext uri="{FF2B5EF4-FFF2-40B4-BE49-F238E27FC236}">
                <a16:creationId xmlns:a16="http://schemas.microsoft.com/office/drawing/2014/main" id="{2F388834-5C9D-0863-72FC-6F1F1112315F}"/>
              </a:ext>
            </a:extLst>
          </p:cNvPr>
          <p:cNvPicPr>
            <a:picLocks noChangeAspect="1"/>
          </p:cNvPicPr>
          <p:nvPr/>
        </p:nvPicPr>
        <p:blipFill>
          <a:blip r:embed="rId2"/>
          <a:stretch>
            <a:fillRect/>
          </a:stretch>
        </p:blipFill>
        <p:spPr>
          <a:xfrm>
            <a:off x="12343369" y="405899"/>
            <a:ext cx="5682382" cy="3551489"/>
          </a:xfrm>
          <a:prstGeom prst="rect">
            <a:avLst/>
          </a:prstGeom>
        </p:spPr>
      </p:pic>
      <p:pic>
        <p:nvPicPr>
          <p:cNvPr id="12" name="Picture 11">
            <a:extLst>
              <a:ext uri="{FF2B5EF4-FFF2-40B4-BE49-F238E27FC236}">
                <a16:creationId xmlns:a16="http://schemas.microsoft.com/office/drawing/2014/main" id="{5E38D33A-5A23-6280-D1B7-A2A66A3983EF}"/>
              </a:ext>
            </a:extLst>
          </p:cNvPr>
          <p:cNvPicPr>
            <a:picLocks noChangeAspect="1"/>
          </p:cNvPicPr>
          <p:nvPr/>
        </p:nvPicPr>
        <p:blipFill>
          <a:blip r:embed="rId3"/>
          <a:stretch>
            <a:fillRect/>
          </a:stretch>
        </p:blipFill>
        <p:spPr>
          <a:xfrm>
            <a:off x="9339957" y="202699"/>
            <a:ext cx="2374900" cy="2235200"/>
          </a:xfrm>
          <a:prstGeom prst="rect">
            <a:avLst/>
          </a:prstGeom>
        </p:spPr>
      </p:pic>
      <p:pic>
        <p:nvPicPr>
          <p:cNvPr id="3" name="Picture 2">
            <a:extLst>
              <a:ext uri="{FF2B5EF4-FFF2-40B4-BE49-F238E27FC236}">
                <a16:creationId xmlns:a16="http://schemas.microsoft.com/office/drawing/2014/main" id="{3D4C633C-F362-D6AB-A3F7-80BB3714BEEB}"/>
              </a:ext>
            </a:extLst>
          </p:cNvPr>
          <p:cNvPicPr>
            <a:picLocks noChangeAspect="1"/>
          </p:cNvPicPr>
          <p:nvPr/>
        </p:nvPicPr>
        <p:blipFill>
          <a:blip r:embed="rId4"/>
          <a:stretch>
            <a:fillRect/>
          </a:stretch>
        </p:blipFill>
        <p:spPr>
          <a:xfrm>
            <a:off x="285232" y="1490987"/>
            <a:ext cx="7772400" cy="4612193"/>
          </a:xfrm>
          <a:prstGeom prst="rect">
            <a:avLst/>
          </a:prstGeom>
        </p:spPr>
      </p:pic>
      <p:sp>
        <p:nvSpPr>
          <p:cNvPr id="5" name="TextBox 4">
            <a:extLst>
              <a:ext uri="{FF2B5EF4-FFF2-40B4-BE49-F238E27FC236}">
                <a16:creationId xmlns:a16="http://schemas.microsoft.com/office/drawing/2014/main" id="{76A70922-B573-020D-7519-9AC504234483}"/>
              </a:ext>
            </a:extLst>
          </p:cNvPr>
          <p:cNvSpPr txBox="1"/>
          <p:nvPr/>
        </p:nvSpPr>
        <p:spPr>
          <a:xfrm>
            <a:off x="8422311" y="2505670"/>
            <a:ext cx="3429000" cy="1754326"/>
          </a:xfrm>
          <a:prstGeom prst="rect">
            <a:avLst/>
          </a:prstGeom>
          <a:noFill/>
        </p:spPr>
        <p:txBody>
          <a:bodyPr wrap="square" rtlCol="0">
            <a:spAutoFit/>
          </a:bodyPr>
          <a:lstStyle/>
          <a:p>
            <a:endParaRPr lang="en-US" dirty="0"/>
          </a:p>
          <a:p>
            <a:r>
              <a:rPr lang="en-US" dirty="0"/>
              <a:t>Breakpoints in BB and TF (suspicious due to low values)</a:t>
            </a:r>
          </a:p>
          <a:p>
            <a:endParaRPr lang="en-US" dirty="0"/>
          </a:p>
          <a:p>
            <a:r>
              <a:rPr lang="en-US" dirty="0"/>
              <a:t>Significant linear increases in W1 and W5</a:t>
            </a:r>
          </a:p>
        </p:txBody>
      </p:sp>
      <p:sp>
        <p:nvSpPr>
          <p:cNvPr id="6" name="5-Point Star 5">
            <a:extLst>
              <a:ext uri="{FF2B5EF4-FFF2-40B4-BE49-F238E27FC236}">
                <a16:creationId xmlns:a16="http://schemas.microsoft.com/office/drawing/2014/main" id="{EB04A9C4-171A-4435-EB36-EAB3057A6D6A}"/>
              </a:ext>
            </a:extLst>
          </p:cNvPr>
          <p:cNvSpPr/>
          <p:nvPr/>
        </p:nvSpPr>
        <p:spPr>
          <a:xfrm>
            <a:off x="2606313" y="3797083"/>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5-Point Star 6">
            <a:extLst>
              <a:ext uri="{FF2B5EF4-FFF2-40B4-BE49-F238E27FC236}">
                <a16:creationId xmlns:a16="http://schemas.microsoft.com/office/drawing/2014/main" id="{DF7CB43A-8CA7-A86C-60EE-0E4FA4FC15D5}"/>
              </a:ext>
            </a:extLst>
          </p:cNvPr>
          <p:cNvSpPr/>
          <p:nvPr/>
        </p:nvSpPr>
        <p:spPr>
          <a:xfrm>
            <a:off x="6465081" y="3797083"/>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096990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160F76-24E5-8FBC-9EA8-0995DD0D3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30634-8375-4A99-23F0-F29861AF8742}"/>
              </a:ext>
            </a:extLst>
          </p:cNvPr>
          <p:cNvSpPr>
            <a:spLocks noGrp="1"/>
          </p:cNvSpPr>
          <p:nvPr>
            <p:ph type="title"/>
          </p:nvPr>
        </p:nvSpPr>
        <p:spPr/>
        <p:txBody>
          <a:bodyPr/>
          <a:lstStyle/>
          <a:p>
            <a:r>
              <a:rPr lang="en-US" dirty="0"/>
              <a:t>Soil Response</a:t>
            </a:r>
          </a:p>
        </p:txBody>
      </p:sp>
      <p:pic>
        <p:nvPicPr>
          <p:cNvPr id="10" name="Picture 9">
            <a:extLst>
              <a:ext uri="{FF2B5EF4-FFF2-40B4-BE49-F238E27FC236}">
                <a16:creationId xmlns:a16="http://schemas.microsoft.com/office/drawing/2014/main" id="{B40A510C-F044-5497-BC34-51E388CF0504}"/>
              </a:ext>
            </a:extLst>
          </p:cNvPr>
          <p:cNvPicPr>
            <a:picLocks noChangeAspect="1"/>
          </p:cNvPicPr>
          <p:nvPr/>
        </p:nvPicPr>
        <p:blipFill>
          <a:blip r:embed="rId2"/>
          <a:stretch>
            <a:fillRect/>
          </a:stretch>
        </p:blipFill>
        <p:spPr>
          <a:xfrm>
            <a:off x="505428" y="1559688"/>
            <a:ext cx="7315200" cy="4572000"/>
          </a:xfrm>
          <a:prstGeom prst="rect">
            <a:avLst/>
          </a:prstGeom>
        </p:spPr>
      </p:pic>
      <p:sp>
        <p:nvSpPr>
          <p:cNvPr id="11" name="TextBox 10">
            <a:extLst>
              <a:ext uri="{FF2B5EF4-FFF2-40B4-BE49-F238E27FC236}">
                <a16:creationId xmlns:a16="http://schemas.microsoft.com/office/drawing/2014/main" id="{909EF20C-B03E-4086-729A-A86DF26F9BF2}"/>
              </a:ext>
            </a:extLst>
          </p:cNvPr>
          <p:cNvSpPr txBox="1"/>
          <p:nvPr/>
        </p:nvSpPr>
        <p:spPr>
          <a:xfrm>
            <a:off x="8422310" y="2505670"/>
            <a:ext cx="3962601" cy="923330"/>
          </a:xfrm>
          <a:prstGeom prst="rect">
            <a:avLst/>
          </a:prstGeom>
          <a:noFill/>
        </p:spPr>
        <p:txBody>
          <a:bodyPr wrap="square" rtlCol="0">
            <a:spAutoFit/>
          </a:bodyPr>
          <a:lstStyle/>
          <a:p>
            <a:r>
              <a:rPr lang="en-US" dirty="0"/>
              <a:t>Slope = 0.00128 g C m</a:t>
            </a:r>
            <a:r>
              <a:rPr lang="en-US" baseline="30000" dirty="0"/>
              <a:t>-2</a:t>
            </a:r>
            <a:r>
              <a:rPr lang="en-US" dirty="0"/>
              <a:t> hr</a:t>
            </a:r>
            <a:r>
              <a:rPr lang="en-US" baseline="30000" dirty="0"/>
              <a:t>-1</a:t>
            </a:r>
            <a:r>
              <a:rPr lang="en-US" dirty="0"/>
              <a:t> year</a:t>
            </a:r>
            <a:r>
              <a:rPr lang="en-US" baseline="30000" dirty="0"/>
              <a:t>-1 </a:t>
            </a:r>
          </a:p>
          <a:p>
            <a:endParaRPr lang="en-US" dirty="0"/>
          </a:p>
          <a:p>
            <a:r>
              <a:rPr lang="en-US" dirty="0"/>
              <a:t>Standardized slope = 0.4601</a:t>
            </a:r>
          </a:p>
        </p:txBody>
      </p:sp>
      <p:pic>
        <p:nvPicPr>
          <p:cNvPr id="12" name="Picture 11">
            <a:extLst>
              <a:ext uri="{FF2B5EF4-FFF2-40B4-BE49-F238E27FC236}">
                <a16:creationId xmlns:a16="http://schemas.microsoft.com/office/drawing/2014/main" id="{1198E61C-58CB-D243-B8C3-9EF398281563}"/>
              </a:ext>
            </a:extLst>
          </p:cNvPr>
          <p:cNvPicPr>
            <a:picLocks noChangeAspect="1"/>
          </p:cNvPicPr>
          <p:nvPr/>
        </p:nvPicPr>
        <p:blipFill>
          <a:blip r:embed="rId3"/>
          <a:srcRect t="21445" b="22470"/>
          <a:stretch>
            <a:fillRect/>
          </a:stretch>
        </p:blipFill>
        <p:spPr>
          <a:xfrm>
            <a:off x="4692469" y="524022"/>
            <a:ext cx="3429000" cy="1574157"/>
          </a:xfrm>
          <a:prstGeom prst="rect">
            <a:avLst/>
          </a:prstGeom>
        </p:spPr>
      </p:pic>
    </p:spTree>
    <p:extLst>
      <p:ext uri="{BB962C8B-B14F-4D97-AF65-F5344CB8AC3E}">
        <p14:creationId xmlns:p14="http://schemas.microsoft.com/office/powerpoint/2010/main" val="3495641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66BAC-1BF2-7102-B108-A5C972D233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D44E9-0491-A2FB-0222-B414D94BC1A9}"/>
              </a:ext>
            </a:extLst>
          </p:cNvPr>
          <p:cNvSpPr>
            <a:spLocks noGrp="1"/>
          </p:cNvSpPr>
          <p:nvPr>
            <p:ph type="title"/>
          </p:nvPr>
        </p:nvSpPr>
        <p:spPr/>
        <p:txBody>
          <a:bodyPr/>
          <a:lstStyle/>
          <a:p>
            <a:r>
              <a:rPr lang="en-US" dirty="0"/>
              <a:t>Soil Response: Lysimeter pH</a:t>
            </a:r>
          </a:p>
        </p:txBody>
      </p:sp>
      <p:sp>
        <p:nvSpPr>
          <p:cNvPr id="11" name="TextBox 10">
            <a:extLst>
              <a:ext uri="{FF2B5EF4-FFF2-40B4-BE49-F238E27FC236}">
                <a16:creationId xmlns:a16="http://schemas.microsoft.com/office/drawing/2014/main" id="{8D3FA02E-10CF-AF48-67BD-9291DD206BCD}"/>
              </a:ext>
            </a:extLst>
          </p:cNvPr>
          <p:cNvSpPr txBox="1"/>
          <p:nvPr/>
        </p:nvSpPr>
        <p:spPr>
          <a:xfrm>
            <a:off x="8422311" y="2505670"/>
            <a:ext cx="3429000" cy="1200329"/>
          </a:xfrm>
          <a:prstGeom prst="rect">
            <a:avLst/>
          </a:prstGeom>
          <a:noFill/>
        </p:spPr>
        <p:txBody>
          <a:bodyPr wrap="square" rtlCol="0">
            <a:spAutoFit/>
          </a:bodyPr>
          <a:lstStyle/>
          <a:p>
            <a:r>
              <a:rPr lang="en-US" dirty="0"/>
              <a:t>Linear or no relationship for W1; Segmented model is best for W6 with a relatively early breakpoint of 1988</a:t>
            </a:r>
          </a:p>
        </p:txBody>
      </p:sp>
      <p:pic>
        <p:nvPicPr>
          <p:cNvPr id="12" name="Picture 11">
            <a:extLst>
              <a:ext uri="{FF2B5EF4-FFF2-40B4-BE49-F238E27FC236}">
                <a16:creationId xmlns:a16="http://schemas.microsoft.com/office/drawing/2014/main" id="{8088EADD-5927-EDBC-4DFB-07E718C53B34}"/>
              </a:ext>
            </a:extLst>
          </p:cNvPr>
          <p:cNvPicPr>
            <a:picLocks noChangeAspect="1"/>
          </p:cNvPicPr>
          <p:nvPr/>
        </p:nvPicPr>
        <p:blipFill>
          <a:blip r:embed="rId2"/>
          <a:srcRect t="21445" b="22470"/>
          <a:stretch>
            <a:fillRect/>
          </a:stretch>
        </p:blipFill>
        <p:spPr>
          <a:xfrm>
            <a:off x="8422310" y="240827"/>
            <a:ext cx="3429000" cy="1574157"/>
          </a:xfrm>
          <a:prstGeom prst="rect">
            <a:avLst/>
          </a:prstGeom>
        </p:spPr>
      </p:pic>
      <p:pic>
        <p:nvPicPr>
          <p:cNvPr id="6" name="Picture 5">
            <a:extLst>
              <a:ext uri="{FF2B5EF4-FFF2-40B4-BE49-F238E27FC236}">
                <a16:creationId xmlns:a16="http://schemas.microsoft.com/office/drawing/2014/main" id="{ACD84275-5773-5B3D-AC0E-E6A4539F58F5}"/>
              </a:ext>
            </a:extLst>
          </p:cNvPr>
          <p:cNvPicPr>
            <a:picLocks noChangeAspect="1"/>
          </p:cNvPicPr>
          <p:nvPr/>
        </p:nvPicPr>
        <p:blipFill>
          <a:blip r:embed="rId3"/>
          <a:stretch>
            <a:fillRect/>
          </a:stretch>
        </p:blipFill>
        <p:spPr>
          <a:xfrm>
            <a:off x="340690" y="1738784"/>
            <a:ext cx="7772400" cy="4655717"/>
          </a:xfrm>
          <a:prstGeom prst="rect">
            <a:avLst/>
          </a:prstGeom>
        </p:spPr>
      </p:pic>
      <p:sp>
        <p:nvSpPr>
          <p:cNvPr id="3" name="5-Point Star 2">
            <a:extLst>
              <a:ext uri="{FF2B5EF4-FFF2-40B4-BE49-F238E27FC236}">
                <a16:creationId xmlns:a16="http://schemas.microsoft.com/office/drawing/2014/main" id="{A23AAFCB-DC96-FD2D-EACF-5730A7D80B29}"/>
              </a:ext>
            </a:extLst>
          </p:cNvPr>
          <p:cNvSpPr/>
          <p:nvPr/>
        </p:nvSpPr>
        <p:spPr>
          <a:xfrm>
            <a:off x="6725727" y="4066642"/>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5-Point Star 3">
            <a:extLst>
              <a:ext uri="{FF2B5EF4-FFF2-40B4-BE49-F238E27FC236}">
                <a16:creationId xmlns:a16="http://schemas.microsoft.com/office/drawing/2014/main" id="{3CEFCDCC-BAEF-2E58-DA8B-CD83C886E1EB}"/>
              </a:ext>
            </a:extLst>
          </p:cNvPr>
          <p:cNvSpPr/>
          <p:nvPr/>
        </p:nvSpPr>
        <p:spPr>
          <a:xfrm>
            <a:off x="2874537" y="4066642"/>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5-Point Star 4">
            <a:extLst>
              <a:ext uri="{FF2B5EF4-FFF2-40B4-BE49-F238E27FC236}">
                <a16:creationId xmlns:a16="http://schemas.microsoft.com/office/drawing/2014/main" id="{70F4C5D6-B3BF-C6EC-72DA-C91E4B943669}"/>
              </a:ext>
            </a:extLst>
          </p:cNvPr>
          <p:cNvSpPr/>
          <p:nvPr/>
        </p:nvSpPr>
        <p:spPr>
          <a:xfrm>
            <a:off x="2874537" y="1984201"/>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87982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23B1E-8104-E2DB-298C-1C478038A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F07A98-1E0A-0C5A-DDBC-A9573C20E719}"/>
              </a:ext>
            </a:extLst>
          </p:cNvPr>
          <p:cNvSpPr>
            <a:spLocks noGrp="1"/>
          </p:cNvSpPr>
          <p:nvPr>
            <p:ph type="title"/>
          </p:nvPr>
        </p:nvSpPr>
        <p:spPr/>
        <p:txBody>
          <a:bodyPr/>
          <a:lstStyle/>
          <a:p>
            <a:r>
              <a:rPr lang="en-US" dirty="0"/>
              <a:t>Soil Response: Lysimeter DOC</a:t>
            </a:r>
          </a:p>
        </p:txBody>
      </p:sp>
      <p:sp>
        <p:nvSpPr>
          <p:cNvPr id="11" name="TextBox 10">
            <a:extLst>
              <a:ext uri="{FF2B5EF4-FFF2-40B4-BE49-F238E27FC236}">
                <a16:creationId xmlns:a16="http://schemas.microsoft.com/office/drawing/2014/main" id="{241F9F9D-3536-E540-3D72-0E1E36C33D48}"/>
              </a:ext>
            </a:extLst>
          </p:cNvPr>
          <p:cNvSpPr txBox="1"/>
          <p:nvPr/>
        </p:nvSpPr>
        <p:spPr>
          <a:xfrm>
            <a:off x="8422310" y="2782669"/>
            <a:ext cx="3429000" cy="1754326"/>
          </a:xfrm>
          <a:prstGeom prst="rect">
            <a:avLst/>
          </a:prstGeom>
          <a:noFill/>
        </p:spPr>
        <p:txBody>
          <a:bodyPr wrap="square" rtlCol="0">
            <a:spAutoFit/>
          </a:bodyPr>
          <a:lstStyle/>
          <a:p>
            <a:r>
              <a:rPr lang="en-US" dirty="0"/>
              <a:t>Only significant trend is linear decline in organic horizon of W6</a:t>
            </a:r>
          </a:p>
          <a:p>
            <a:endParaRPr lang="en-US" dirty="0"/>
          </a:p>
          <a:p>
            <a:r>
              <a:rPr lang="en-US" dirty="0"/>
              <a:t>Trends could be obscured by combining horizons into organic and mineral categories.</a:t>
            </a:r>
          </a:p>
        </p:txBody>
      </p:sp>
      <p:pic>
        <p:nvPicPr>
          <p:cNvPr id="12" name="Picture 11">
            <a:extLst>
              <a:ext uri="{FF2B5EF4-FFF2-40B4-BE49-F238E27FC236}">
                <a16:creationId xmlns:a16="http://schemas.microsoft.com/office/drawing/2014/main" id="{78AD6618-FCB1-1E83-CA83-F132056BCE4A}"/>
              </a:ext>
            </a:extLst>
          </p:cNvPr>
          <p:cNvPicPr>
            <a:picLocks noChangeAspect="1"/>
          </p:cNvPicPr>
          <p:nvPr/>
        </p:nvPicPr>
        <p:blipFill>
          <a:blip r:embed="rId2"/>
          <a:srcRect t="21445" b="22470"/>
          <a:stretch>
            <a:fillRect/>
          </a:stretch>
        </p:blipFill>
        <p:spPr>
          <a:xfrm>
            <a:off x="8422310" y="240827"/>
            <a:ext cx="3429000" cy="1574157"/>
          </a:xfrm>
          <a:prstGeom prst="rect">
            <a:avLst/>
          </a:prstGeom>
        </p:spPr>
      </p:pic>
      <p:pic>
        <p:nvPicPr>
          <p:cNvPr id="3" name="Picture 2">
            <a:extLst>
              <a:ext uri="{FF2B5EF4-FFF2-40B4-BE49-F238E27FC236}">
                <a16:creationId xmlns:a16="http://schemas.microsoft.com/office/drawing/2014/main" id="{5C21B6AF-6028-AB6A-5E47-2A0B25BBCD3F}"/>
              </a:ext>
            </a:extLst>
          </p:cNvPr>
          <p:cNvPicPr>
            <a:picLocks noChangeAspect="1"/>
          </p:cNvPicPr>
          <p:nvPr/>
        </p:nvPicPr>
        <p:blipFill>
          <a:blip r:embed="rId3"/>
          <a:stretch>
            <a:fillRect/>
          </a:stretch>
        </p:blipFill>
        <p:spPr>
          <a:xfrm>
            <a:off x="340689" y="1863726"/>
            <a:ext cx="7772400" cy="4629149"/>
          </a:xfrm>
          <a:prstGeom prst="rect">
            <a:avLst/>
          </a:prstGeom>
        </p:spPr>
      </p:pic>
      <p:sp>
        <p:nvSpPr>
          <p:cNvPr id="4" name="5-Point Star 3">
            <a:extLst>
              <a:ext uri="{FF2B5EF4-FFF2-40B4-BE49-F238E27FC236}">
                <a16:creationId xmlns:a16="http://schemas.microsoft.com/office/drawing/2014/main" id="{2C153DFC-5AAC-0219-5195-90B3FE6956AF}"/>
              </a:ext>
            </a:extLst>
          </p:cNvPr>
          <p:cNvSpPr/>
          <p:nvPr/>
        </p:nvSpPr>
        <p:spPr>
          <a:xfrm>
            <a:off x="6701013" y="417830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91331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C1D9-0BF8-BD5D-C03E-17B29B1C2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B12BE1-3D05-459B-BA05-3A52C9CABE70}"/>
              </a:ext>
            </a:extLst>
          </p:cNvPr>
          <p:cNvSpPr>
            <a:spLocks noGrp="1"/>
          </p:cNvSpPr>
          <p:nvPr>
            <p:ph type="title"/>
          </p:nvPr>
        </p:nvSpPr>
        <p:spPr/>
        <p:txBody>
          <a:bodyPr/>
          <a:lstStyle/>
          <a:p>
            <a:r>
              <a:rPr lang="en-US" dirty="0"/>
              <a:t>Soil Response: pH</a:t>
            </a:r>
          </a:p>
        </p:txBody>
      </p:sp>
      <p:sp>
        <p:nvSpPr>
          <p:cNvPr id="11" name="TextBox 10">
            <a:extLst>
              <a:ext uri="{FF2B5EF4-FFF2-40B4-BE49-F238E27FC236}">
                <a16:creationId xmlns:a16="http://schemas.microsoft.com/office/drawing/2014/main" id="{A2355034-6C2F-39C3-87B8-3E3D21872EAC}"/>
              </a:ext>
            </a:extLst>
          </p:cNvPr>
          <p:cNvSpPr txBox="1"/>
          <p:nvPr/>
        </p:nvSpPr>
        <p:spPr>
          <a:xfrm>
            <a:off x="8422310" y="2782669"/>
            <a:ext cx="3429000" cy="3139321"/>
          </a:xfrm>
          <a:prstGeom prst="rect">
            <a:avLst/>
          </a:prstGeom>
          <a:noFill/>
        </p:spPr>
        <p:txBody>
          <a:bodyPr wrap="square" rtlCol="0">
            <a:spAutoFit/>
          </a:bodyPr>
          <a:lstStyle/>
          <a:p>
            <a:r>
              <a:rPr lang="en-US" dirty="0"/>
              <a:t>Sig linear increase in the mineral horizon (Possinger et al. had breakpoint at 2015 but also used WS1)</a:t>
            </a:r>
          </a:p>
          <a:p>
            <a:endParaRPr lang="en-US" dirty="0"/>
          </a:p>
          <a:p>
            <a:r>
              <a:rPr lang="en-US" dirty="0"/>
              <a:t>No sig linear or breakpoint trends in the O horizon though  Oi/Oe spline has a significant curvature</a:t>
            </a:r>
          </a:p>
          <a:p>
            <a:endParaRPr lang="en-US" dirty="0"/>
          </a:p>
          <a:p>
            <a:r>
              <a:rPr lang="en-US" dirty="0"/>
              <a:t>This is Bear Brook (West of WS6)</a:t>
            </a:r>
          </a:p>
        </p:txBody>
      </p:sp>
      <p:pic>
        <p:nvPicPr>
          <p:cNvPr id="12" name="Picture 11">
            <a:extLst>
              <a:ext uri="{FF2B5EF4-FFF2-40B4-BE49-F238E27FC236}">
                <a16:creationId xmlns:a16="http://schemas.microsoft.com/office/drawing/2014/main" id="{17D5E5F1-DFC2-084E-F240-285834E4ECB2}"/>
              </a:ext>
            </a:extLst>
          </p:cNvPr>
          <p:cNvPicPr>
            <a:picLocks noChangeAspect="1"/>
          </p:cNvPicPr>
          <p:nvPr/>
        </p:nvPicPr>
        <p:blipFill>
          <a:blip r:embed="rId2"/>
          <a:srcRect t="21445" b="22470"/>
          <a:stretch>
            <a:fillRect/>
          </a:stretch>
        </p:blipFill>
        <p:spPr>
          <a:xfrm>
            <a:off x="8422310" y="240827"/>
            <a:ext cx="3429000" cy="1574157"/>
          </a:xfrm>
          <a:prstGeom prst="rect">
            <a:avLst/>
          </a:prstGeom>
        </p:spPr>
      </p:pic>
      <p:sp>
        <p:nvSpPr>
          <p:cNvPr id="4" name="5-Point Star 3">
            <a:extLst>
              <a:ext uri="{FF2B5EF4-FFF2-40B4-BE49-F238E27FC236}">
                <a16:creationId xmlns:a16="http://schemas.microsoft.com/office/drawing/2014/main" id="{74CABDE4-3AB3-B46B-0D98-454824F78FB9}"/>
              </a:ext>
            </a:extLst>
          </p:cNvPr>
          <p:cNvSpPr/>
          <p:nvPr/>
        </p:nvSpPr>
        <p:spPr>
          <a:xfrm>
            <a:off x="6701013" y="417830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3B3F577-0F3C-5234-E9D1-0ABD56553C27}"/>
              </a:ext>
            </a:extLst>
          </p:cNvPr>
          <p:cNvPicPr>
            <a:picLocks noChangeAspect="1"/>
          </p:cNvPicPr>
          <p:nvPr/>
        </p:nvPicPr>
        <p:blipFill>
          <a:blip r:embed="rId3"/>
          <a:stretch>
            <a:fillRect/>
          </a:stretch>
        </p:blipFill>
        <p:spPr>
          <a:xfrm>
            <a:off x="340690" y="1814984"/>
            <a:ext cx="7772400" cy="4653655"/>
          </a:xfrm>
          <a:prstGeom prst="rect">
            <a:avLst/>
          </a:prstGeom>
        </p:spPr>
      </p:pic>
      <p:sp>
        <p:nvSpPr>
          <p:cNvPr id="6" name="5-Point Star 5">
            <a:extLst>
              <a:ext uri="{FF2B5EF4-FFF2-40B4-BE49-F238E27FC236}">
                <a16:creationId xmlns:a16="http://schemas.microsoft.com/office/drawing/2014/main" id="{98F5FC64-22A2-389B-7230-2016214C4384}"/>
              </a:ext>
            </a:extLst>
          </p:cNvPr>
          <p:cNvSpPr/>
          <p:nvPr/>
        </p:nvSpPr>
        <p:spPr>
          <a:xfrm>
            <a:off x="2023898" y="2113969"/>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5265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28050-EC87-E217-8CBF-57035CDB88B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E9AC500-C9CC-AEEE-0627-6782446EA43D}"/>
              </a:ext>
            </a:extLst>
          </p:cNvPr>
          <p:cNvPicPr>
            <a:picLocks noChangeAspect="1"/>
          </p:cNvPicPr>
          <p:nvPr/>
        </p:nvPicPr>
        <p:blipFill>
          <a:blip r:embed="rId2"/>
          <a:stretch>
            <a:fillRect/>
          </a:stretch>
        </p:blipFill>
        <p:spPr>
          <a:xfrm>
            <a:off x="379967" y="1636045"/>
            <a:ext cx="7772400" cy="4660990"/>
          </a:xfrm>
          <a:prstGeom prst="rect">
            <a:avLst/>
          </a:prstGeom>
        </p:spPr>
      </p:pic>
      <p:sp>
        <p:nvSpPr>
          <p:cNvPr id="2" name="Title 1">
            <a:extLst>
              <a:ext uri="{FF2B5EF4-FFF2-40B4-BE49-F238E27FC236}">
                <a16:creationId xmlns:a16="http://schemas.microsoft.com/office/drawing/2014/main" id="{EAF689E7-2139-E10C-C34A-32553D82CF13}"/>
              </a:ext>
            </a:extLst>
          </p:cNvPr>
          <p:cNvSpPr>
            <a:spLocks noGrp="1"/>
          </p:cNvSpPr>
          <p:nvPr>
            <p:ph type="title"/>
          </p:nvPr>
        </p:nvSpPr>
        <p:spPr>
          <a:xfrm>
            <a:off x="276118" y="310482"/>
            <a:ext cx="10515600" cy="1325563"/>
          </a:xfrm>
        </p:spPr>
        <p:txBody>
          <a:bodyPr/>
          <a:lstStyle/>
          <a:p>
            <a:r>
              <a:rPr lang="en-US" dirty="0"/>
              <a:t>Soil Response: Microbial Biomass C</a:t>
            </a:r>
          </a:p>
        </p:txBody>
      </p:sp>
      <p:sp>
        <p:nvSpPr>
          <p:cNvPr id="11" name="TextBox 10">
            <a:extLst>
              <a:ext uri="{FF2B5EF4-FFF2-40B4-BE49-F238E27FC236}">
                <a16:creationId xmlns:a16="http://schemas.microsoft.com/office/drawing/2014/main" id="{E6A6AAD8-5075-7AC4-5B8E-64793DC28491}"/>
              </a:ext>
            </a:extLst>
          </p:cNvPr>
          <p:cNvSpPr txBox="1"/>
          <p:nvPr/>
        </p:nvSpPr>
        <p:spPr>
          <a:xfrm>
            <a:off x="8422310" y="2782669"/>
            <a:ext cx="3429000" cy="2031325"/>
          </a:xfrm>
          <a:prstGeom prst="rect">
            <a:avLst/>
          </a:prstGeom>
          <a:noFill/>
        </p:spPr>
        <p:txBody>
          <a:bodyPr wrap="square" rtlCol="0">
            <a:spAutoFit/>
          </a:bodyPr>
          <a:lstStyle/>
          <a:p>
            <a:r>
              <a:rPr lang="en-US" dirty="0"/>
              <a:t>All horizons have the spline as the best fit. </a:t>
            </a:r>
          </a:p>
          <a:p>
            <a:endParaRPr lang="en-US" dirty="0"/>
          </a:p>
          <a:p>
            <a:r>
              <a:rPr lang="en-US" dirty="0"/>
              <a:t>This does not match Possinger’s analysis, which include WS1</a:t>
            </a:r>
          </a:p>
          <a:p>
            <a:endParaRPr lang="en-US" dirty="0"/>
          </a:p>
          <a:p>
            <a:r>
              <a:rPr lang="en-US" dirty="0"/>
              <a:t>This is Bear Brook (West of WS6)</a:t>
            </a:r>
          </a:p>
        </p:txBody>
      </p:sp>
      <p:pic>
        <p:nvPicPr>
          <p:cNvPr id="12" name="Picture 11">
            <a:extLst>
              <a:ext uri="{FF2B5EF4-FFF2-40B4-BE49-F238E27FC236}">
                <a16:creationId xmlns:a16="http://schemas.microsoft.com/office/drawing/2014/main" id="{D8E51657-2C73-52CE-3EAA-94F12E216364}"/>
              </a:ext>
            </a:extLst>
          </p:cNvPr>
          <p:cNvPicPr>
            <a:picLocks noChangeAspect="1"/>
          </p:cNvPicPr>
          <p:nvPr/>
        </p:nvPicPr>
        <p:blipFill>
          <a:blip r:embed="rId3"/>
          <a:srcRect t="21445" b="22470"/>
          <a:stretch>
            <a:fillRect/>
          </a:stretch>
        </p:blipFill>
        <p:spPr>
          <a:xfrm>
            <a:off x="8763000" y="240827"/>
            <a:ext cx="3429000" cy="1574157"/>
          </a:xfrm>
          <a:prstGeom prst="rect">
            <a:avLst/>
          </a:prstGeom>
        </p:spPr>
      </p:pic>
      <p:sp>
        <p:nvSpPr>
          <p:cNvPr id="4" name="5-Point Star 3">
            <a:extLst>
              <a:ext uri="{FF2B5EF4-FFF2-40B4-BE49-F238E27FC236}">
                <a16:creationId xmlns:a16="http://schemas.microsoft.com/office/drawing/2014/main" id="{0FC58B48-CFE3-2057-D2FA-BDEC889A4628}"/>
              </a:ext>
            </a:extLst>
          </p:cNvPr>
          <p:cNvSpPr/>
          <p:nvPr/>
        </p:nvSpPr>
        <p:spPr>
          <a:xfrm>
            <a:off x="4649791" y="184123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5-Point Star 5">
            <a:extLst>
              <a:ext uri="{FF2B5EF4-FFF2-40B4-BE49-F238E27FC236}">
                <a16:creationId xmlns:a16="http://schemas.microsoft.com/office/drawing/2014/main" id="{77917763-10BC-B605-74D6-1AA90CA92648}"/>
              </a:ext>
            </a:extLst>
          </p:cNvPr>
          <p:cNvSpPr/>
          <p:nvPr/>
        </p:nvSpPr>
        <p:spPr>
          <a:xfrm>
            <a:off x="2170202" y="184123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5-Point Star 6">
            <a:extLst>
              <a:ext uri="{FF2B5EF4-FFF2-40B4-BE49-F238E27FC236}">
                <a16:creationId xmlns:a16="http://schemas.microsoft.com/office/drawing/2014/main" id="{FA900B0A-707B-BDFF-9B15-659805C91619}"/>
              </a:ext>
            </a:extLst>
          </p:cNvPr>
          <p:cNvSpPr/>
          <p:nvPr/>
        </p:nvSpPr>
        <p:spPr>
          <a:xfrm>
            <a:off x="7261656" y="184123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6983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D58B7-F031-9075-F1FE-1E235395630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CF69966-B06C-C27D-AEFD-A49BBFD3848D}"/>
              </a:ext>
            </a:extLst>
          </p:cNvPr>
          <p:cNvPicPr>
            <a:picLocks noChangeAspect="1"/>
          </p:cNvPicPr>
          <p:nvPr/>
        </p:nvPicPr>
        <p:blipFill>
          <a:blip r:embed="rId2"/>
          <a:stretch>
            <a:fillRect/>
          </a:stretch>
        </p:blipFill>
        <p:spPr>
          <a:xfrm>
            <a:off x="340690" y="1636045"/>
            <a:ext cx="7772400" cy="4626863"/>
          </a:xfrm>
          <a:prstGeom prst="rect">
            <a:avLst/>
          </a:prstGeom>
        </p:spPr>
      </p:pic>
      <p:sp>
        <p:nvSpPr>
          <p:cNvPr id="2" name="Title 1">
            <a:extLst>
              <a:ext uri="{FF2B5EF4-FFF2-40B4-BE49-F238E27FC236}">
                <a16:creationId xmlns:a16="http://schemas.microsoft.com/office/drawing/2014/main" id="{E54FFD58-415C-E022-7585-584FBD120E32}"/>
              </a:ext>
            </a:extLst>
          </p:cNvPr>
          <p:cNvSpPr>
            <a:spLocks noGrp="1"/>
          </p:cNvSpPr>
          <p:nvPr>
            <p:ph type="title"/>
          </p:nvPr>
        </p:nvSpPr>
        <p:spPr>
          <a:xfrm>
            <a:off x="276118" y="310482"/>
            <a:ext cx="10515600" cy="1325563"/>
          </a:xfrm>
        </p:spPr>
        <p:txBody>
          <a:bodyPr/>
          <a:lstStyle/>
          <a:p>
            <a:r>
              <a:rPr lang="en-US" dirty="0"/>
              <a:t>Soil Response: CO</a:t>
            </a:r>
            <a:r>
              <a:rPr lang="en-US" baseline="-25000" dirty="0"/>
              <a:t>2</a:t>
            </a:r>
            <a:r>
              <a:rPr lang="en-US" dirty="0"/>
              <a:t> Flux</a:t>
            </a:r>
          </a:p>
        </p:txBody>
      </p:sp>
      <p:sp>
        <p:nvSpPr>
          <p:cNvPr id="11" name="TextBox 10">
            <a:extLst>
              <a:ext uri="{FF2B5EF4-FFF2-40B4-BE49-F238E27FC236}">
                <a16:creationId xmlns:a16="http://schemas.microsoft.com/office/drawing/2014/main" id="{AF7F28EC-C3AD-0F9E-022B-D23413E2A3C5}"/>
              </a:ext>
            </a:extLst>
          </p:cNvPr>
          <p:cNvSpPr txBox="1"/>
          <p:nvPr/>
        </p:nvSpPr>
        <p:spPr>
          <a:xfrm>
            <a:off x="8422310" y="2782669"/>
            <a:ext cx="3429000" cy="2031325"/>
          </a:xfrm>
          <a:prstGeom prst="rect">
            <a:avLst/>
          </a:prstGeom>
          <a:noFill/>
        </p:spPr>
        <p:txBody>
          <a:bodyPr wrap="square" rtlCol="0">
            <a:spAutoFit/>
          </a:bodyPr>
          <a:lstStyle/>
          <a:p>
            <a:r>
              <a:rPr lang="en-US" dirty="0"/>
              <a:t>Segmented is best fit for both watersheds with the breakpoint at 2015 </a:t>
            </a:r>
          </a:p>
          <a:p>
            <a:endParaRPr lang="en-US" dirty="0"/>
          </a:p>
          <a:p>
            <a:r>
              <a:rPr lang="en-US" dirty="0"/>
              <a:t>(Yay! Matches Possinger’s analysis!!)</a:t>
            </a:r>
          </a:p>
          <a:p>
            <a:endParaRPr lang="en-US" dirty="0"/>
          </a:p>
        </p:txBody>
      </p:sp>
      <p:pic>
        <p:nvPicPr>
          <p:cNvPr id="12" name="Picture 11">
            <a:extLst>
              <a:ext uri="{FF2B5EF4-FFF2-40B4-BE49-F238E27FC236}">
                <a16:creationId xmlns:a16="http://schemas.microsoft.com/office/drawing/2014/main" id="{5F34F3A6-281E-8540-F3CF-38FFA5B47EF5}"/>
              </a:ext>
            </a:extLst>
          </p:cNvPr>
          <p:cNvPicPr>
            <a:picLocks noChangeAspect="1"/>
          </p:cNvPicPr>
          <p:nvPr/>
        </p:nvPicPr>
        <p:blipFill>
          <a:blip r:embed="rId3"/>
          <a:srcRect t="21445" b="22470"/>
          <a:stretch>
            <a:fillRect/>
          </a:stretch>
        </p:blipFill>
        <p:spPr>
          <a:xfrm>
            <a:off x="8763000" y="240827"/>
            <a:ext cx="3429000" cy="1574157"/>
          </a:xfrm>
          <a:prstGeom prst="rect">
            <a:avLst/>
          </a:prstGeom>
        </p:spPr>
      </p:pic>
      <p:sp>
        <p:nvSpPr>
          <p:cNvPr id="6" name="5-Point Star 5">
            <a:extLst>
              <a:ext uri="{FF2B5EF4-FFF2-40B4-BE49-F238E27FC236}">
                <a16:creationId xmlns:a16="http://schemas.microsoft.com/office/drawing/2014/main" id="{6D248FDB-AD7D-0851-1E7E-DE538874F2E2}"/>
              </a:ext>
            </a:extLst>
          </p:cNvPr>
          <p:cNvSpPr/>
          <p:nvPr/>
        </p:nvSpPr>
        <p:spPr>
          <a:xfrm>
            <a:off x="2804186" y="184123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5-Point Star 6">
            <a:extLst>
              <a:ext uri="{FF2B5EF4-FFF2-40B4-BE49-F238E27FC236}">
                <a16:creationId xmlns:a16="http://schemas.microsoft.com/office/drawing/2014/main" id="{7BF31BF2-253D-8D03-8B9E-651AB75B01BA}"/>
              </a:ext>
            </a:extLst>
          </p:cNvPr>
          <p:cNvSpPr/>
          <p:nvPr/>
        </p:nvSpPr>
        <p:spPr>
          <a:xfrm>
            <a:off x="6676440" y="1841230"/>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86173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F7886-07C1-8F65-30D9-87982E9231B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B09427E-D56B-FE3A-4DEA-6218B1C4C19F}"/>
              </a:ext>
            </a:extLst>
          </p:cNvPr>
          <p:cNvPicPr>
            <a:picLocks noChangeAspect="1"/>
          </p:cNvPicPr>
          <p:nvPr/>
        </p:nvPicPr>
        <p:blipFill>
          <a:blip r:embed="rId2"/>
          <a:stretch>
            <a:fillRect/>
          </a:stretch>
        </p:blipFill>
        <p:spPr>
          <a:xfrm>
            <a:off x="466344" y="1517667"/>
            <a:ext cx="7772400" cy="4602954"/>
          </a:xfrm>
          <a:prstGeom prst="rect">
            <a:avLst/>
          </a:prstGeom>
        </p:spPr>
      </p:pic>
      <p:sp>
        <p:nvSpPr>
          <p:cNvPr id="2" name="Title 1">
            <a:extLst>
              <a:ext uri="{FF2B5EF4-FFF2-40B4-BE49-F238E27FC236}">
                <a16:creationId xmlns:a16="http://schemas.microsoft.com/office/drawing/2014/main" id="{3F9AAA5B-1D55-EE25-94C4-7C4045AD57AC}"/>
              </a:ext>
            </a:extLst>
          </p:cNvPr>
          <p:cNvSpPr>
            <a:spLocks noGrp="1"/>
          </p:cNvSpPr>
          <p:nvPr>
            <p:ph type="title"/>
          </p:nvPr>
        </p:nvSpPr>
        <p:spPr>
          <a:xfrm>
            <a:off x="276118" y="310482"/>
            <a:ext cx="10515600" cy="1325563"/>
          </a:xfrm>
        </p:spPr>
        <p:txBody>
          <a:bodyPr/>
          <a:lstStyle/>
          <a:p>
            <a:r>
              <a:rPr lang="en-US" dirty="0"/>
              <a:t>Soil Response: CH</a:t>
            </a:r>
            <a:r>
              <a:rPr lang="en-US" baseline="-25000" dirty="0"/>
              <a:t>4</a:t>
            </a:r>
            <a:r>
              <a:rPr lang="en-US" dirty="0"/>
              <a:t> Flux</a:t>
            </a:r>
          </a:p>
        </p:txBody>
      </p:sp>
      <p:pic>
        <p:nvPicPr>
          <p:cNvPr id="12" name="Picture 11">
            <a:extLst>
              <a:ext uri="{FF2B5EF4-FFF2-40B4-BE49-F238E27FC236}">
                <a16:creationId xmlns:a16="http://schemas.microsoft.com/office/drawing/2014/main" id="{ACE349AC-950A-C949-BC0C-4A2DFF724F9E}"/>
              </a:ext>
            </a:extLst>
          </p:cNvPr>
          <p:cNvPicPr>
            <a:picLocks noChangeAspect="1"/>
          </p:cNvPicPr>
          <p:nvPr/>
        </p:nvPicPr>
        <p:blipFill>
          <a:blip r:embed="rId3"/>
          <a:srcRect t="21445" b="22470"/>
          <a:stretch>
            <a:fillRect/>
          </a:stretch>
        </p:blipFill>
        <p:spPr>
          <a:xfrm>
            <a:off x="8763000" y="240827"/>
            <a:ext cx="3429000" cy="1574157"/>
          </a:xfrm>
          <a:prstGeom prst="rect">
            <a:avLst/>
          </a:prstGeom>
        </p:spPr>
      </p:pic>
      <p:sp>
        <p:nvSpPr>
          <p:cNvPr id="6" name="5-Point Star 5">
            <a:extLst>
              <a:ext uri="{FF2B5EF4-FFF2-40B4-BE49-F238E27FC236}">
                <a16:creationId xmlns:a16="http://schemas.microsoft.com/office/drawing/2014/main" id="{9C940762-3375-C231-C4D4-A5F26CC3BCCE}"/>
              </a:ext>
            </a:extLst>
          </p:cNvPr>
          <p:cNvSpPr/>
          <p:nvPr/>
        </p:nvSpPr>
        <p:spPr>
          <a:xfrm>
            <a:off x="3011450" y="1814984"/>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5-Point Star 6">
            <a:extLst>
              <a:ext uri="{FF2B5EF4-FFF2-40B4-BE49-F238E27FC236}">
                <a16:creationId xmlns:a16="http://schemas.microsoft.com/office/drawing/2014/main" id="{9023C0D7-959D-8C56-E6F4-E1AEE3FA64AB}"/>
              </a:ext>
            </a:extLst>
          </p:cNvPr>
          <p:cNvSpPr/>
          <p:nvPr/>
        </p:nvSpPr>
        <p:spPr>
          <a:xfrm>
            <a:off x="6798360" y="1781297"/>
            <a:ext cx="258048" cy="245418"/>
          </a:xfrm>
          <a:prstGeom prst="star5">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F5FD75D-8211-7523-C3C0-810C44324494}"/>
              </a:ext>
            </a:extLst>
          </p:cNvPr>
          <p:cNvSpPr txBox="1"/>
          <p:nvPr/>
        </p:nvSpPr>
        <p:spPr>
          <a:xfrm>
            <a:off x="8422310" y="2782669"/>
            <a:ext cx="3429000" cy="2031325"/>
          </a:xfrm>
          <a:prstGeom prst="rect">
            <a:avLst/>
          </a:prstGeom>
          <a:noFill/>
        </p:spPr>
        <p:txBody>
          <a:bodyPr wrap="square" rtlCol="0">
            <a:spAutoFit/>
          </a:bodyPr>
          <a:lstStyle/>
          <a:p>
            <a:r>
              <a:rPr lang="en-US" dirty="0"/>
              <a:t>Segmented is best fit for both watersheds with the breakpoint at 2014/2015 </a:t>
            </a:r>
          </a:p>
          <a:p>
            <a:endParaRPr lang="en-US" dirty="0"/>
          </a:p>
          <a:p>
            <a:r>
              <a:rPr lang="en-US" dirty="0"/>
              <a:t>(Yay! Matches Possinger’s analysis!!)</a:t>
            </a:r>
          </a:p>
          <a:p>
            <a:endParaRPr lang="en-US" dirty="0"/>
          </a:p>
        </p:txBody>
      </p:sp>
    </p:spTree>
    <p:extLst>
      <p:ext uri="{BB962C8B-B14F-4D97-AF65-F5344CB8AC3E}">
        <p14:creationId xmlns:p14="http://schemas.microsoft.com/office/powerpoint/2010/main" val="35819868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5AE53-F3B3-376C-DB62-704892A1512B}"/>
              </a:ext>
            </a:extLst>
          </p:cNvPr>
          <p:cNvSpPr>
            <a:spLocks noGrp="1"/>
          </p:cNvSpPr>
          <p:nvPr>
            <p:ph type="title"/>
          </p:nvPr>
        </p:nvSpPr>
        <p:spPr>
          <a:xfrm rot="16200000">
            <a:off x="-1954794" y="2608401"/>
            <a:ext cx="6257882" cy="1325563"/>
          </a:xfrm>
        </p:spPr>
        <p:txBody>
          <a:bodyPr/>
          <a:lstStyle/>
          <a:p>
            <a:r>
              <a:rPr lang="en-US" dirty="0"/>
              <a:t>Summary of watershed 6</a:t>
            </a:r>
          </a:p>
        </p:txBody>
      </p:sp>
      <p:graphicFrame>
        <p:nvGraphicFramePr>
          <p:cNvPr id="3" name="Table 2">
            <a:extLst>
              <a:ext uri="{FF2B5EF4-FFF2-40B4-BE49-F238E27FC236}">
                <a16:creationId xmlns:a16="http://schemas.microsoft.com/office/drawing/2014/main" id="{24ABEB33-5A7E-3C84-7F64-128323F94654}"/>
              </a:ext>
            </a:extLst>
          </p:cNvPr>
          <p:cNvGraphicFramePr>
            <a:graphicFrameLocks noGrp="1"/>
          </p:cNvGraphicFramePr>
          <p:nvPr>
            <p:extLst>
              <p:ext uri="{D42A27DB-BD31-4B8C-83A1-F6EECF244321}">
                <p14:modId xmlns:p14="http://schemas.microsoft.com/office/powerpoint/2010/main" val="3398948456"/>
              </p:ext>
            </p:extLst>
          </p:nvPr>
        </p:nvGraphicFramePr>
        <p:xfrm>
          <a:off x="2032000" y="299043"/>
          <a:ext cx="8128000" cy="610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053168605"/>
                    </a:ext>
                  </a:extLst>
                </a:gridCol>
                <a:gridCol w="2032000">
                  <a:extLst>
                    <a:ext uri="{9D8B030D-6E8A-4147-A177-3AD203B41FA5}">
                      <a16:colId xmlns:a16="http://schemas.microsoft.com/office/drawing/2014/main" val="406803457"/>
                    </a:ext>
                  </a:extLst>
                </a:gridCol>
                <a:gridCol w="2032000">
                  <a:extLst>
                    <a:ext uri="{9D8B030D-6E8A-4147-A177-3AD203B41FA5}">
                      <a16:colId xmlns:a16="http://schemas.microsoft.com/office/drawing/2014/main" val="2303642539"/>
                    </a:ext>
                  </a:extLst>
                </a:gridCol>
                <a:gridCol w="2032000">
                  <a:extLst>
                    <a:ext uri="{9D8B030D-6E8A-4147-A177-3AD203B41FA5}">
                      <a16:colId xmlns:a16="http://schemas.microsoft.com/office/drawing/2014/main" val="894268314"/>
                    </a:ext>
                  </a:extLst>
                </a:gridCol>
              </a:tblGrid>
              <a:tr h="159512">
                <a:tc>
                  <a:txBody>
                    <a:bodyPr/>
                    <a:lstStyle/>
                    <a:p>
                      <a:r>
                        <a:rPr lang="en-US" dirty="0"/>
                        <a:t>Parameter</a:t>
                      </a:r>
                    </a:p>
                  </a:txBody>
                  <a:tcPr/>
                </a:tc>
                <a:tc>
                  <a:txBody>
                    <a:bodyPr/>
                    <a:lstStyle/>
                    <a:p>
                      <a:r>
                        <a:rPr lang="en-US" dirty="0"/>
                        <a:t>Trend</a:t>
                      </a:r>
                    </a:p>
                  </a:txBody>
                  <a:tcPr/>
                </a:tc>
                <a:tc>
                  <a:txBody>
                    <a:bodyPr/>
                    <a:lstStyle/>
                    <a:p>
                      <a:r>
                        <a:rPr lang="en-US" dirty="0"/>
                        <a:t>Type</a:t>
                      </a:r>
                    </a:p>
                  </a:txBody>
                  <a:tcPr/>
                </a:tc>
                <a:tc>
                  <a:txBody>
                    <a:bodyPr/>
                    <a:lstStyle/>
                    <a:p>
                      <a:r>
                        <a:rPr lang="en-US" dirty="0"/>
                        <a:t>Breakpoint/</a:t>
                      </a:r>
                    </a:p>
                    <a:p>
                      <a:r>
                        <a:rPr lang="en-US" dirty="0"/>
                        <a:t>inflection</a:t>
                      </a:r>
                    </a:p>
                  </a:txBody>
                  <a:tcPr/>
                </a:tc>
                <a:extLst>
                  <a:ext uri="{0D108BD9-81ED-4DB2-BD59-A6C34878D82A}">
                    <a16:rowId xmlns:a16="http://schemas.microsoft.com/office/drawing/2014/main" val="2257417079"/>
                  </a:ext>
                </a:extLst>
              </a:tr>
              <a:tr h="370840">
                <a:tc>
                  <a:txBody>
                    <a:bodyPr/>
                    <a:lstStyle/>
                    <a:p>
                      <a:r>
                        <a:rPr lang="en-US" dirty="0"/>
                        <a:t>Air Temp</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132198683"/>
                  </a:ext>
                </a:extLst>
              </a:tr>
              <a:tr h="370840">
                <a:tc>
                  <a:txBody>
                    <a:bodyPr/>
                    <a:lstStyle/>
                    <a:p>
                      <a:r>
                        <a:rPr lang="en-US" dirty="0"/>
                        <a:t>Atm pH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segmented</a:t>
                      </a:r>
                    </a:p>
                  </a:txBody>
                  <a:tcPr/>
                </a:tc>
                <a:tc>
                  <a:txBody>
                    <a:bodyPr/>
                    <a:lstStyle/>
                    <a:p>
                      <a:r>
                        <a:rPr lang="en-US" dirty="0"/>
                        <a:t>2000</a:t>
                      </a:r>
                    </a:p>
                  </a:txBody>
                  <a:tcPr/>
                </a:tc>
                <a:extLst>
                  <a:ext uri="{0D108BD9-81ED-4DB2-BD59-A6C34878D82A}">
                    <a16:rowId xmlns:a16="http://schemas.microsoft.com/office/drawing/2014/main" val="3821254891"/>
                  </a:ext>
                </a:extLst>
              </a:tr>
              <a:tr h="370840">
                <a:tc>
                  <a:txBody>
                    <a:bodyPr/>
                    <a:lstStyle/>
                    <a:p>
                      <a:r>
                        <a:rPr lang="en-US" dirty="0"/>
                        <a:t>Atm DOC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segmented</a:t>
                      </a:r>
                    </a:p>
                  </a:txBody>
                  <a:tcPr/>
                </a:tc>
                <a:tc>
                  <a:txBody>
                    <a:bodyPr/>
                    <a:lstStyle/>
                    <a:p>
                      <a:r>
                        <a:rPr lang="en-US" dirty="0"/>
                        <a:t>2009</a:t>
                      </a:r>
                    </a:p>
                  </a:txBody>
                  <a:tcPr/>
                </a:tc>
                <a:extLst>
                  <a:ext uri="{0D108BD9-81ED-4DB2-BD59-A6C34878D82A}">
                    <a16:rowId xmlns:a16="http://schemas.microsoft.com/office/drawing/2014/main" val="1322807257"/>
                  </a:ext>
                </a:extLst>
              </a:tr>
              <a:tr h="370840">
                <a:tc>
                  <a:txBody>
                    <a:bodyPr/>
                    <a:lstStyle/>
                    <a:p>
                      <a:r>
                        <a:rPr lang="en-US" dirty="0"/>
                        <a:t>Stream pH</a:t>
                      </a:r>
                    </a:p>
                  </a:txBody>
                  <a:tcPr/>
                </a:tc>
                <a:tc>
                  <a:txBody>
                    <a:bodyPr/>
                    <a:lstStyle/>
                    <a:p>
                      <a:r>
                        <a:rPr lang="en-US" dirty="0"/>
                        <a:t>increase</a:t>
                      </a:r>
                    </a:p>
                  </a:txBody>
                  <a:tcPr/>
                </a:tc>
                <a:tc>
                  <a:txBody>
                    <a:bodyPr/>
                    <a:lstStyle/>
                    <a:p>
                      <a:r>
                        <a:rPr lang="en-US" dirty="0"/>
                        <a:t>segmented</a:t>
                      </a:r>
                    </a:p>
                  </a:txBody>
                  <a:tcPr/>
                </a:tc>
                <a:tc>
                  <a:txBody>
                    <a:bodyPr/>
                    <a:lstStyle/>
                    <a:p>
                      <a:r>
                        <a:rPr lang="en-US" dirty="0"/>
                        <a:t>2000</a:t>
                      </a:r>
                    </a:p>
                  </a:txBody>
                  <a:tcPr/>
                </a:tc>
                <a:extLst>
                  <a:ext uri="{0D108BD9-81ED-4DB2-BD59-A6C34878D82A}">
                    <a16:rowId xmlns:a16="http://schemas.microsoft.com/office/drawing/2014/main" val="3529833541"/>
                  </a:ext>
                </a:extLst>
              </a:tr>
              <a:tr h="370840">
                <a:tc>
                  <a:txBody>
                    <a:bodyPr/>
                    <a:lstStyle/>
                    <a:p>
                      <a:r>
                        <a:rPr lang="en-US" dirty="0"/>
                        <a:t>Stream DOC</a:t>
                      </a:r>
                    </a:p>
                  </a:txBody>
                  <a:tcPr/>
                </a:tc>
                <a:tc>
                  <a:txBody>
                    <a:bodyPr/>
                    <a:lstStyle/>
                    <a:p>
                      <a:r>
                        <a:rPr lang="en-US" dirty="0"/>
                        <a:t>increase</a:t>
                      </a:r>
                    </a:p>
                  </a:txBody>
                  <a:tcPr/>
                </a:tc>
                <a:tc>
                  <a:txBody>
                    <a:bodyPr/>
                    <a:lstStyle/>
                    <a:p>
                      <a:r>
                        <a:rPr lang="en-US" dirty="0"/>
                        <a:t>segmented</a:t>
                      </a:r>
                    </a:p>
                  </a:txBody>
                  <a:tcPr/>
                </a:tc>
                <a:tc>
                  <a:txBody>
                    <a:bodyPr/>
                    <a:lstStyle/>
                    <a:p>
                      <a:r>
                        <a:rPr lang="en-US" dirty="0"/>
                        <a:t>1996</a:t>
                      </a:r>
                    </a:p>
                  </a:txBody>
                  <a:tcPr/>
                </a:tc>
                <a:extLst>
                  <a:ext uri="{0D108BD9-81ED-4DB2-BD59-A6C34878D82A}">
                    <a16:rowId xmlns:a16="http://schemas.microsoft.com/office/drawing/2014/main" val="2889405773"/>
                  </a:ext>
                </a:extLst>
              </a:tr>
              <a:tr h="370840">
                <a:tc>
                  <a:txBody>
                    <a:bodyPr/>
                    <a:lstStyle/>
                    <a:p>
                      <a:r>
                        <a:rPr lang="en-US" dirty="0"/>
                        <a:t>Stream DIC</a:t>
                      </a:r>
                    </a:p>
                  </a:txBody>
                  <a:tcPr/>
                </a:tc>
                <a:tc>
                  <a:txBody>
                    <a:bodyPr/>
                    <a:lstStyle/>
                    <a:p>
                      <a:r>
                        <a:rPr lang="en-US" dirty="0"/>
                        <a:t>increase</a:t>
                      </a:r>
                    </a:p>
                  </a:txBody>
                  <a:tcPr/>
                </a:tc>
                <a:tc>
                  <a:txBody>
                    <a:bodyPr/>
                    <a:lstStyle/>
                    <a:p>
                      <a:r>
                        <a:rPr lang="en-US" dirty="0"/>
                        <a:t>spline</a:t>
                      </a:r>
                    </a:p>
                  </a:txBody>
                  <a:tcPr/>
                </a:tc>
                <a:tc>
                  <a:txBody>
                    <a:bodyPr/>
                    <a:lstStyle/>
                    <a:p>
                      <a:r>
                        <a:rPr lang="en-US" dirty="0"/>
                        <a:t>~2015</a:t>
                      </a:r>
                    </a:p>
                  </a:txBody>
                  <a:tcPr/>
                </a:tc>
                <a:extLst>
                  <a:ext uri="{0D108BD9-81ED-4DB2-BD59-A6C34878D82A}">
                    <a16:rowId xmlns:a16="http://schemas.microsoft.com/office/drawing/2014/main" val="2071706720"/>
                  </a:ext>
                </a:extLst>
              </a:tr>
              <a:tr h="370840">
                <a:tc>
                  <a:txBody>
                    <a:bodyPr/>
                    <a:lstStyle/>
                    <a:p>
                      <a:r>
                        <a:rPr lang="en-US" dirty="0"/>
                        <a:t>Plant AG Biomass</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904893665"/>
                  </a:ext>
                </a:extLst>
              </a:tr>
              <a:tr h="370840">
                <a:tc>
                  <a:txBody>
                    <a:bodyPr/>
                    <a:lstStyle/>
                    <a:p>
                      <a:r>
                        <a:rPr lang="en-US" dirty="0"/>
                        <a:t>Plant Litterfall</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58746925"/>
                  </a:ext>
                </a:extLst>
              </a:tr>
              <a:tr h="370840">
                <a:tc>
                  <a:txBody>
                    <a:bodyPr/>
                    <a:lstStyle/>
                    <a:p>
                      <a:r>
                        <a:rPr lang="en-US" dirty="0"/>
                        <a:t>Soil Lys pH</a:t>
                      </a:r>
                    </a:p>
                  </a:txBody>
                  <a:tcPr/>
                </a:tc>
                <a:tc>
                  <a:txBody>
                    <a:bodyPr/>
                    <a:lstStyle/>
                    <a:p>
                      <a:r>
                        <a:rPr lang="en-US" dirty="0"/>
                        <a:t>increase (min)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Segmented?</a:t>
                      </a:r>
                    </a:p>
                  </a:txBody>
                  <a:tcPr/>
                </a:tc>
                <a:tc>
                  <a:txBody>
                    <a:bodyPr/>
                    <a:lstStyle/>
                    <a:p>
                      <a:r>
                        <a:rPr lang="en-US" dirty="0"/>
                        <a:t>1988</a:t>
                      </a:r>
                    </a:p>
                  </a:txBody>
                  <a:tcPr/>
                </a:tc>
                <a:extLst>
                  <a:ext uri="{0D108BD9-81ED-4DB2-BD59-A6C34878D82A}">
                    <a16:rowId xmlns:a16="http://schemas.microsoft.com/office/drawing/2014/main" val="4197786335"/>
                  </a:ext>
                </a:extLst>
              </a:tr>
              <a:tr h="370840">
                <a:tc>
                  <a:txBody>
                    <a:bodyPr/>
                    <a:lstStyle/>
                    <a:p>
                      <a:r>
                        <a:rPr lang="en-US" dirty="0"/>
                        <a:t>Soil Lys DOC</a:t>
                      </a:r>
                    </a:p>
                  </a:txBody>
                  <a:tcPr/>
                </a:tc>
                <a:tc>
                  <a:txBody>
                    <a:bodyPr/>
                    <a:lstStyle/>
                    <a:p>
                      <a:r>
                        <a:rPr lang="en-US" dirty="0"/>
                        <a:t>decrease (org)</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983373126"/>
                  </a:ext>
                </a:extLst>
              </a:tr>
              <a:tr h="370840">
                <a:tc>
                  <a:txBody>
                    <a:bodyPr/>
                    <a:lstStyle/>
                    <a:p>
                      <a:r>
                        <a:rPr lang="en-US" dirty="0"/>
                        <a:t>Soil pH</a:t>
                      </a:r>
                    </a:p>
                  </a:txBody>
                  <a:tcPr/>
                </a:tc>
                <a:tc>
                  <a:txBody>
                    <a:bodyPr/>
                    <a:lstStyle/>
                    <a:p>
                      <a:r>
                        <a:rPr lang="en-US" dirty="0"/>
                        <a:t>increase (min)</a:t>
                      </a:r>
                    </a:p>
                  </a:txBody>
                  <a:tcPr/>
                </a:tc>
                <a:tc>
                  <a:txBody>
                    <a:bodyPr/>
                    <a:lstStyle/>
                    <a:p>
                      <a:r>
                        <a:rPr lang="en-US" dirty="0"/>
                        <a:t>spline</a:t>
                      </a:r>
                    </a:p>
                  </a:txBody>
                  <a:tcPr/>
                </a:tc>
                <a:tc>
                  <a:txBody>
                    <a:bodyPr/>
                    <a:lstStyle/>
                    <a:p>
                      <a:r>
                        <a:rPr lang="en-US" dirty="0"/>
                        <a:t>~2015</a:t>
                      </a:r>
                    </a:p>
                  </a:txBody>
                  <a:tcPr/>
                </a:tc>
                <a:extLst>
                  <a:ext uri="{0D108BD9-81ED-4DB2-BD59-A6C34878D82A}">
                    <a16:rowId xmlns:a16="http://schemas.microsoft.com/office/drawing/2014/main" val="1925749950"/>
                  </a:ext>
                </a:extLst>
              </a:tr>
              <a:tr h="370840">
                <a:tc>
                  <a:txBody>
                    <a:bodyPr/>
                    <a:lstStyle/>
                    <a:p>
                      <a:r>
                        <a:rPr lang="en-US" dirty="0"/>
                        <a:t>Soil MBC</a:t>
                      </a:r>
                    </a:p>
                  </a:txBody>
                  <a:tcPr/>
                </a:tc>
                <a:tc>
                  <a:txBody>
                    <a:bodyPr/>
                    <a:lstStyle/>
                    <a:p>
                      <a:r>
                        <a:rPr lang="en-US" dirty="0"/>
                        <a:t>increase</a:t>
                      </a:r>
                    </a:p>
                  </a:txBody>
                  <a:tcPr/>
                </a:tc>
                <a:tc>
                  <a:txBody>
                    <a:bodyPr/>
                    <a:lstStyle/>
                    <a:p>
                      <a:r>
                        <a:rPr lang="en-US" dirty="0"/>
                        <a:t>spline</a:t>
                      </a:r>
                    </a:p>
                  </a:txBody>
                  <a:tcPr/>
                </a:tc>
                <a:tc>
                  <a:txBody>
                    <a:bodyPr/>
                    <a:lstStyle/>
                    <a:p>
                      <a:r>
                        <a:rPr lang="en-US" dirty="0"/>
                        <a:t>~2004, ~2016</a:t>
                      </a:r>
                    </a:p>
                  </a:txBody>
                  <a:tcPr/>
                </a:tc>
                <a:extLst>
                  <a:ext uri="{0D108BD9-81ED-4DB2-BD59-A6C34878D82A}">
                    <a16:rowId xmlns:a16="http://schemas.microsoft.com/office/drawing/2014/main" val="1044480125"/>
                  </a:ext>
                </a:extLst>
              </a:tr>
              <a:tr h="370840">
                <a:tc>
                  <a:txBody>
                    <a:bodyPr/>
                    <a:lstStyle/>
                    <a:p>
                      <a:r>
                        <a:rPr lang="en-US" dirty="0"/>
                        <a:t>Soil CO</a:t>
                      </a:r>
                      <a:r>
                        <a:rPr lang="en-US" baseline="-25000" dirty="0"/>
                        <a:t>2</a:t>
                      </a:r>
                    </a:p>
                  </a:txBody>
                  <a:tcPr/>
                </a:tc>
                <a:tc>
                  <a:txBody>
                    <a:bodyPr/>
                    <a:lstStyle/>
                    <a:p>
                      <a:r>
                        <a:rPr lang="en-US" dirty="0"/>
                        <a:t>increase</a:t>
                      </a:r>
                    </a:p>
                  </a:txBody>
                  <a:tcPr/>
                </a:tc>
                <a:tc>
                  <a:txBody>
                    <a:bodyPr/>
                    <a:lstStyle/>
                    <a:p>
                      <a:r>
                        <a:rPr lang="en-US" dirty="0"/>
                        <a:t>segmented</a:t>
                      </a:r>
                    </a:p>
                  </a:txBody>
                  <a:tcPr/>
                </a:tc>
                <a:tc>
                  <a:txBody>
                    <a:bodyPr/>
                    <a:lstStyle/>
                    <a:p>
                      <a:r>
                        <a:rPr lang="en-US" dirty="0"/>
                        <a:t>2015</a:t>
                      </a:r>
                    </a:p>
                  </a:txBody>
                  <a:tcPr/>
                </a:tc>
                <a:extLst>
                  <a:ext uri="{0D108BD9-81ED-4DB2-BD59-A6C34878D82A}">
                    <a16:rowId xmlns:a16="http://schemas.microsoft.com/office/drawing/2014/main" val="3238260066"/>
                  </a:ext>
                </a:extLst>
              </a:tr>
              <a:tr h="370840">
                <a:tc>
                  <a:txBody>
                    <a:bodyPr/>
                    <a:lstStyle/>
                    <a:p>
                      <a:r>
                        <a:rPr lang="en-US" dirty="0"/>
                        <a:t>Soil CH</a:t>
                      </a:r>
                      <a:r>
                        <a:rPr lang="en-US" baseline="-25000" dirty="0"/>
                        <a:t>4</a:t>
                      </a:r>
                    </a:p>
                  </a:txBody>
                  <a:tcPr/>
                </a:tc>
                <a:tc>
                  <a:txBody>
                    <a:bodyPr/>
                    <a:lstStyle/>
                    <a:p>
                      <a:r>
                        <a:rPr lang="en-US" dirty="0"/>
                        <a:t>increase (consumption)</a:t>
                      </a:r>
                    </a:p>
                  </a:txBody>
                  <a:tcPr/>
                </a:tc>
                <a:tc>
                  <a:txBody>
                    <a:bodyPr/>
                    <a:lstStyle/>
                    <a:p>
                      <a:r>
                        <a:rPr lang="en-US" dirty="0"/>
                        <a:t>segmented</a:t>
                      </a:r>
                    </a:p>
                  </a:txBody>
                  <a:tcPr/>
                </a:tc>
                <a:tc>
                  <a:txBody>
                    <a:bodyPr/>
                    <a:lstStyle/>
                    <a:p>
                      <a:r>
                        <a:rPr lang="en-US" dirty="0"/>
                        <a:t>2015</a:t>
                      </a:r>
                    </a:p>
                  </a:txBody>
                  <a:tcPr/>
                </a:tc>
                <a:extLst>
                  <a:ext uri="{0D108BD9-81ED-4DB2-BD59-A6C34878D82A}">
                    <a16:rowId xmlns:a16="http://schemas.microsoft.com/office/drawing/2014/main" val="3910529218"/>
                  </a:ext>
                </a:extLst>
              </a:tr>
            </a:tbl>
          </a:graphicData>
        </a:graphic>
      </p:graphicFrame>
    </p:spTree>
    <p:extLst>
      <p:ext uri="{BB962C8B-B14F-4D97-AF65-F5344CB8AC3E}">
        <p14:creationId xmlns:p14="http://schemas.microsoft.com/office/powerpoint/2010/main" val="12366803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E0855-2528-7C12-D42D-CA9C229227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884F8C-603F-4CED-1A70-E678DE02B7A6}"/>
              </a:ext>
            </a:extLst>
          </p:cNvPr>
          <p:cNvSpPr>
            <a:spLocks noGrp="1"/>
          </p:cNvSpPr>
          <p:nvPr>
            <p:ph type="title"/>
          </p:nvPr>
        </p:nvSpPr>
        <p:spPr>
          <a:xfrm rot="16200000">
            <a:off x="-1954794" y="2608401"/>
            <a:ext cx="6257882" cy="1325563"/>
          </a:xfrm>
        </p:spPr>
        <p:txBody>
          <a:bodyPr/>
          <a:lstStyle/>
          <a:p>
            <a:r>
              <a:rPr lang="en-US" dirty="0"/>
              <a:t>Summary of watershed 6</a:t>
            </a:r>
          </a:p>
        </p:txBody>
      </p:sp>
      <p:graphicFrame>
        <p:nvGraphicFramePr>
          <p:cNvPr id="3" name="Table 2">
            <a:extLst>
              <a:ext uri="{FF2B5EF4-FFF2-40B4-BE49-F238E27FC236}">
                <a16:creationId xmlns:a16="http://schemas.microsoft.com/office/drawing/2014/main" id="{75644D66-2B22-31B8-C496-17634FDC6F9E}"/>
              </a:ext>
            </a:extLst>
          </p:cNvPr>
          <p:cNvGraphicFramePr>
            <a:graphicFrameLocks noGrp="1"/>
          </p:cNvGraphicFramePr>
          <p:nvPr>
            <p:extLst>
              <p:ext uri="{D42A27DB-BD31-4B8C-83A1-F6EECF244321}">
                <p14:modId xmlns:p14="http://schemas.microsoft.com/office/powerpoint/2010/main" val="1881655345"/>
              </p:ext>
            </p:extLst>
          </p:nvPr>
        </p:nvGraphicFramePr>
        <p:xfrm>
          <a:off x="2032000" y="299043"/>
          <a:ext cx="8128000" cy="610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053168605"/>
                    </a:ext>
                  </a:extLst>
                </a:gridCol>
                <a:gridCol w="2032000">
                  <a:extLst>
                    <a:ext uri="{9D8B030D-6E8A-4147-A177-3AD203B41FA5}">
                      <a16:colId xmlns:a16="http://schemas.microsoft.com/office/drawing/2014/main" val="406803457"/>
                    </a:ext>
                  </a:extLst>
                </a:gridCol>
                <a:gridCol w="2032000">
                  <a:extLst>
                    <a:ext uri="{9D8B030D-6E8A-4147-A177-3AD203B41FA5}">
                      <a16:colId xmlns:a16="http://schemas.microsoft.com/office/drawing/2014/main" val="2303642539"/>
                    </a:ext>
                  </a:extLst>
                </a:gridCol>
                <a:gridCol w="2032000">
                  <a:extLst>
                    <a:ext uri="{9D8B030D-6E8A-4147-A177-3AD203B41FA5}">
                      <a16:colId xmlns:a16="http://schemas.microsoft.com/office/drawing/2014/main" val="894268314"/>
                    </a:ext>
                  </a:extLst>
                </a:gridCol>
              </a:tblGrid>
              <a:tr h="159512">
                <a:tc>
                  <a:txBody>
                    <a:bodyPr/>
                    <a:lstStyle/>
                    <a:p>
                      <a:r>
                        <a:rPr lang="en-US" dirty="0"/>
                        <a:t>Parameter</a:t>
                      </a:r>
                    </a:p>
                  </a:txBody>
                  <a:tcPr/>
                </a:tc>
                <a:tc>
                  <a:txBody>
                    <a:bodyPr/>
                    <a:lstStyle/>
                    <a:p>
                      <a:r>
                        <a:rPr lang="en-US" dirty="0"/>
                        <a:t>Trend</a:t>
                      </a:r>
                    </a:p>
                  </a:txBody>
                  <a:tcPr/>
                </a:tc>
                <a:tc>
                  <a:txBody>
                    <a:bodyPr/>
                    <a:lstStyle/>
                    <a:p>
                      <a:r>
                        <a:rPr lang="en-US" dirty="0"/>
                        <a:t>Type</a:t>
                      </a:r>
                    </a:p>
                  </a:txBody>
                  <a:tcPr/>
                </a:tc>
                <a:tc>
                  <a:txBody>
                    <a:bodyPr/>
                    <a:lstStyle/>
                    <a:p>
                      <a:r>
                        <a:rPr lang="en-US" dirty="0"/>
                        <a:t>Breakpoint/</a:t>
                      </a:r>
                    </a:p>
                    <a:p>
                      <a:r>
                        <a:rPr lang="en-US" dirty="0"/>
                        <a:t>inflection</a:t>
                      </a:r>
                    </a:p>
                  </a:txBody>
                  <a:tcPr/>
                </a:tc>
                <a:extLst>
                  <a:ext uri="{0D108BD9-81ED-4DB2-BD59-A6C34878D82A}">
                    <a16:rowId xmlns:a16="http://schemas.microsoft.com/office/drawing/2014/main" val="2257417079"/>
                  </a:ext>
                </a:extLst>
              </a:tr>
              <a:tr h="370840">
                <a:tc>
                  <a:txBody>
                    <a:bodyPr/>
                    <a:lstStyle/>
                    <a:p>
                      <a:r>
                        <a:rPr lang="en-US" dirty="0"/>
                        <a:t>Air Temp</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132198683"/>
                  </a:ext>
                </a:extLst>
              </a:tr>
              <a:tr h="370840">
                <a:tc>
                  <a:txBody>
                    <a:bodyPr/>
                    <a:lstStyle/>
                    <a:p>
                      <a:r>
                        <a:rPr lang="en-US" dirty="0"/>
                        <a:t>Atm pH</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solidFill>
                      <a:schemeClr val="accent5">
                        <a:lumMod val="20000"/>
                        <a:lumOff val="80000"/>
                      </a:schemeClr>
                    </a:solidFill>
                  </a:tcPr>
                </a:tc>
                <a:tc>
                  <a:txBody>
                    <a:bodyPr/>
                    <a:lstStyle/>
                    <a:p>
                      <a:r>
                        <a:rPr lang="en-US" dirty="0"/>
                        <a:t>segmented</a:t>
                      </a:r>
                    </a:p>
                  </a:txBody>
                  <a:tcPr>
                    <a:solidFill>
                      <a:schemeClr val="accent5">
                        <a:lumMod val="20000"/>
                        <a:lumOff val="80000"/>
                      </a:schemeClr>
                    </a:solidFill>
                  </a:tcPr>
                </a:tc>
                <a:tc>
                  <a:txBody>
                    <a:bodyPr/>
                    <a:lstStyle/>
                    <a:p>
                      <a:r>
                        <a:rPr lang="en-US" dirty="0"/>
                        <a:t>2000</a:t>
                      </a:r>
                    </a:p>
                  </a:txBody>
                  <a:tcPr>
                    <a:solidFill>
                      <a:schemeClr val="accent5">
                        <a:lumMod val="20000"/>
                        <a:lumOff val="80000"/>
                      </a:schemeClr>
                    </a:solidFill>
                  </a:tcPr>
                </a:tc>
                <a:extLst>
                  <a:ext uri="{0D108BD9-81ED-4DB2-BD59-A6C34878D82A}">
                    <a16:rowId xmlns:a16="http://schemas.microsoft.com/office/drawing/2014/main" val="3821254891"/>
                  </a:ext>
                </a:extLst>
              </a:tr>
              <a:tr h="370840">
                <a:tc>
                  <a:txBody>
                    <a:bodyPr/>
                    <a:lstStyle/>
                    <a:p>
                      <a:r>
                        <a:rPr lang="en-US" dirty="0"/>
                        <a:t>Atm DOC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segmented</a:t>
                      </a:r>
                    </a:p>
                  </a:txBody>
                  <a:tcPr/>
                </a:tc>
                <a:tc>
                  <a:txBody>
                    <a:bodyPr/>
                    <a:lstStyle/>
                    <a:p>
                      <a:r>
                        <a:rPr lang="en-US" dirty="0"/>
                        <a:t>2009</a:t>
                      </a:r>
                    </a:p>
                  </a:txBody>
                  <a:tcPr/>
                </a:tc>
                <a:extLst>
                  <a:ext uri="{0D108BD9-81ED-4DB2-BD59-A6C34878D82A}">
                    <a16:rowId xmlns:a16="http://schemas.microsoft.com/office/drawing/2014/main" val="1322807257"/>
                  </a:ext>
                </a:extLst>
              </a:tr>
              <a:tr h="370840">
                <a:tc>
                  <a:txBody>
                    <a:bodyPr/>
                    <a:lstStyle/>
                    <a:p>
                      <a:r>
                        <a:rPr lang="en-US" dirty="0"/>
                        <a:t>Stream pH</a:t>
                      </a:r>
                    </a:p>
                  </a:txBody>
                  <a:tcPr>
                    <a:solidFill>
                      <a:schemeClr val="accent5">
                        <a:lumMod val="20000"/>
                        <a:lumOff val="80000"/>
                      </a:schemeClr>
                    </a:solidFill>
                  </a:tcPr>
                </a:tc>
                <a:tc>
                  <a:txBody>
                    <a:bodyPr/>
                    <a:lstStyle/>
                    <a:p>
                      <a:r>
                        <a:rPr lang="en-US" dirty="0"/>
                        <a:t>increase</a:t>
                      </a:r>
                    </a:p>
                  </a:txBody>
                  <a:tcPr>
                    <a:solidFill>
                      <a:schemeClr val="accent5">
                        <a:lumMod val="20000"/>
                        <a:lumOff val="80000"/>
                      </a:schemeClr>
                    </a:solidFill>
                  </a:tcPr>
                </a:tc>
                <a:tc>
                  <a:txBody>
                    <a:bodyPr/>
                    <a:lstStyle/>
                    <a:p>
                      <a:r>
                        <a:rPr lang="en-US" dirty="0"/>
                        <a:t>segmented</a:t>
                      </a:r>
                    </a:p>
                  </a:txBody>
                  <a:tcPr>
                    <a:solidFill>
                      <a:schemeClr val="accent5">
                        <a:lumMod val="20000"/>
                        <a:lumOff val="80000"/>
                      </a:schemeClr>
                    </a:solidFill>
                  </a:tcPr>
                </a:tc>
                <a:tc>
                  <a:txBody>
                    <a:bodyPr/>
                    <a:lstStyle/>
                    <a:p>
                      <a:r>
                        <a:rPr lang="en-US" dirty="0"/>
                        <a:t>2000</a:t>
                      </a:r>
                    </a:p>
                  </a:txBody>
                  <a:tcPr>
                    <a:solidFill>
                      <a:schemeClr val="accent5">
                        <a:lumMod val="20000"/>
                        <a:lumOff val="80000"/>
                      </a:schemeClr>
                    </a:solidFill>
                  </a:tcPr>
                </a:tc>
                <a:extLst>
                  <a:ext uri="{0D108BD9-81ED-4DB2-BD59-A6C34878D82A}">
                    <a16:rowId xmlns:a16="http://schemas.microsoft.com/office/drawing/2014/main" val="3529833541"/>
                  </a:ext>
                </a:extLst>
              </a:tr>
              <a:tr h="370840">
                <a:tc>
                  <a:txBody>
                    <a:bodyPr/>
                    <a:lstStyle/>
                    <a:p>
                      <a:r>
                        <a:rPr lang="en-US" dirty="0"/>
                        <a:t>Stream DOC</a:t>
                      </a:r>
                    </a:p>
                  </a:txBody>
                  <a:tcPr/>
                </a:tc>
                <a:tc>
                  <a:txBody>
                    <a:bodyPr/>
                    <a:lstStyle/>
                    <a:p>
                      <a:r>
                        <a:rPr lang="en-US" dirty="0"/>
                        <a:t>increase</a:t>
                      </a:r>
                    </a:p>
                  </a:txBody>
                  <a:tcPr/>
                </a:tc>
                <a:tc>
                  <a:txBody>
                    <a:bodyPr/>
                    <a:lstStyle/>
                    <a:p>
                      <a:r>
                        <a:rPr lang="en-US" dirty="0"/>
                        <a:t>segmented</a:t>
                      </a:r>
                    </a:p>
                  </a:txBody>
                  <a:tcPr/>
                </a:tc>
                <a:tc>
                  <a:txBody>
                    <a:bodyPr/>
                    <a:lstStyle/>
                    <a:p>
                      <a:r>
                        <a:rPr lang="en-US" dirty="0"/>
                        <a:t>1996</a:t>
                      </a:r>
                    </a:p>
                  </a:txBody>
                  <a:tcPr/>
                </a:tc>
                <a:extLst>
                  <a:ext uri="{0D108BD9-81ED-4DB2-BD59-A6C34878D82A}">
                    <a16:rowId xmlns:a16="http://schemas.microsoft.com/office/drawing/2014/main" val="2889405773"/>
                  </a:ext>
                </a:extLst>
              </a:tr>
              <a:tr h="370840">
                <a:tc>
                  <a:txBody>
                    <a:bodyPr/>
                    <a:lstStyle/>
                    <a:p>
                      <a:r>
                        <a:rPr lang="en-US" dirty="0"/>
                        <a:t>Stream DIC</a:t>
                      </a:r>
                    </a:p>
                  </a:txBody>
                  <a:tcPr/>
                </a:tc>
                <a:tc>
                  <a:txBody>
                    <a:bodyPr/>
                    <a:lstStyle/>
                    <a:p>
                      <a:r>
                        <a:rPr lang="en-US" dirty="0"/>
                        <a:t>increase</a:t>
                      </a:r>
                    </a:p>
                  </a:txBody>
                  <a:tcPr/>
                </a:tc>
                <a:tc>
                  <a:txBody>
                    <a:bodyPr/>
                    <a:lstStyle/>
                    <a:p>
                      <a:r>
                        <a:rPr lang="en-US" dirty="0"/>
                        <a:t>spline</a:t>
                      </a:r>
                    </a:p>
                  </a:txBody>
                  <a:tcPr/>
                </a:tc>
                <a:tc>
                  <a:txBody>
                    <a:bodyPr/>
                    <a:lstStyle/>
                    <a:p>
                      <a:r>
                        <a:rPr lang="en-US" dirty="0"/>
                        <a:t>~2015</a:t>
                      </a:r>
                    </a:p>
                  </a:txBody>
                  <a:tcPr/>
                </a:tc>
                <a:extLst>
                  <a:ext uri="{0D108BD9-81ED-4DB2-BD59-A6C34878D82A}">
                    <a16:rowId xmlns:a16="http://schemas.microsoft.com/office/drawing/2014/main" val="2071706720"/>
                  </a:ext>
                </a:extLst>
              </a:tr>
              <a:tr h="370840">
                <a:tc>
                  <a:txBody>
                    <a:bodyPr/>
                    <a:lstStyle/>
                    <a:p>
                      <a:r>
                        <a:rPr lang="en-US" dirty="0"/>
                        <a:t>Plant AG Biomass</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904893665"/>
                  </a:ext>
                </a:extLst>
              </a:tr>
              <a:tr h="370840">
                <a:tc>
                  <a:txBody>
                    <a:bodyPr/>
                    <a:lstStyle/>
                    <a:p>
                      <a:r>
                        <a:rPr lang="en-US" dirty="0"/>
                        <a:t>Plant Litterfall</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58746925"/>
                  </a:ext>
                </a:extLst>
              </a:tr>
              <a:tr h="370840">
                <a:tc>
                  <a:txBody>
                    <a:bodyPr/>
                    <a:lstStyle/>
                    <a:p>
                      <a:r>
                        <a:rPr lang="en-US" dirty="0"/>
                        <a:t>Soil Lys pH</a:t>
                      </a:r>
                    </a:p>
                  </a:txBody>
                  <a:tcPr>
                    <a:solidFill>
                      <a:schemeClr val="accent5">
                        <a:lumMod val="20000"/>
                        <a:lumOff val="80000"/>
                      </a:schemeClr>
                    </a:solidFill>
                  </a:tcPr>
                </a:tc>
                <a:tc>
                  <a:txBody>
                    <a:bodyPr/>
                    <a:lstStyle/>
                    <a:p>
                      <a:r>
                        <a:rPr lang="en-US" dirty="0"/>
                        <a:t>increase (min)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Segmented?</a:t>
                      </a:r>
                    </a:p>
                  </a:txBody>
                  <a:tcPr>
                    <a:solidFill>
                      <a:schemeClr val="accent5">
                        <a:lumMod val="20000"/>
                        <a:lumOff val="80000"/>
                      </a:schemeClr>
                    </a:solidFill>
                  </a:tcPr>
                </a:tc>
                <a:tc>
                  <a:txBody>
                    <a:bodyPr/>
                    <a:lstStyle/>
                    <a:p>
                      <a:r>
                        <a:rPr lang="en-US" dirty="0"/>
                        <a:t>1988</a:t>
                      </a:r>
                    </a:p>
                  </a:txBody>
                  <a:tcPr>
                    <a:solidFill>
                      <a:schemeClr val="accent5">
                        <a:lumMod val="20000"/>
                        <a:lumOff val="80000"/>
                      </a:schemeClr>
                    </a:solidFill>
                  </a:tcPr>
                </a:tc>
                <a:extLst>
                  <a:ext uri="{0D108BD9-81ED-4DB2-BD59-A6C34878D82A}">
                    <a16:rowId xmlns:a16="http://schemas.microsoft.com/office/drawing/2014/main" val="4197786335"/>
                  </a:ext>
                </a:extLst>
              </a:tr>
              <a:tr h="370840">
                <a:tc>
                  <a:txBody>
                    <a:bodyPr/>
                    <a:lstStyle/>
                    <a:p>
                      <a:r>
                        <a:rPr lang="en-US" dirty="0"/>
                        <a:t>Soil Lys DOC</a:t>
                      </a:r>
                    </a:p>
                  </a:txBody>
                  <a:tcPr/>
                </a:tc>
                <a:tc>
                  <a:txBody>
                    <a:bodyPr/>
                    <a:lstStyle/>
                    <a:p>
                      <a:r>
                        <a:rPr lang="en-US" dirty="0"/>
                        <a:t>decrease (org)</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983373126"/>
                  </a:ext>
                </a:extLst>
              </a:tr>
              <a:tr h="370840">
                <a:tc>
                  <a:txBody>
                    <a:bodyPr/>
                    <a:lstStyle/>
                    <a:p>
                      <a:r>
                        <a:rPr lang="en-US" dirty="0"/>
                        <a:t>Soil pH</a:t>
                      </a:r>
                    </a:p>
                  </a:txBody>
                  <a:tcPr>
                    <a:solidFill>
                      <a:schemeClr val="accent5">
                        <a:lumMod val="20000"/>
                        <a:lumOff val="80000"/>
                      </a:schemeClr>
                    </a:solidFill>
                  </a:tcPr>
                </a:tc>
                <a:tc>
                  <a:txBody>
                    <a:bodyPr/>
                    <a:lstStyle/>
                    <a:p>
                      <a:r>
                        <a:rPr lang="en-US" dirty="0"/>
                        <a:t>increase (min)</a:t>
                      </a:r>
                    </a:p>
                  </a:txBody>
                  <a:tcPr>
                    <a:solidFill>
                      <a:schemeClr val="accent5">
                        <a:lumMod val="20000"/>
                        <a:lumOff val="80000"/>
                      </a:schemeClr>
                    </a:solidFill>
                  </a:tcPr>
                </a:tc>
                <a:tc>
                  <a:txBody>
                    <a:bodyPr/>
                    <a:lstStyle/>
                    <a:p>
                      <a:r>
                        <a:rPr lang="en-US" dirty="0"/>
                        <a:t>spline</a:t>
                      </a:r>
                    </a:p>
                  </a:txBody>
                  <a:tcPr>
                    <a:solidFill>
                      <a:schemeClr val="accent5">
                        <a:lumMod val="20000"/>
                        <a:lumOff val="80000"/>
                      </a:schemeClr>
                    </a:solidFill>
                  </a:tcPr>
                </a:tc>
                <a:tc>
                  <a:txBody>
                    <a:bodyPr/>
                    <a:lstStyle/>
                    <a:p>
                      <a:r>
                        <a:rPr lang="en-US" dirty="0"/>
                        <a:t>~2015</a:t>
                      </a:r>
                    </a:p>
                  </a:txBody>
                  <a:tcPr>
                    <a:solidFill>
                      <a:schemeClr val="accent5">
                        <a:lumMod val="20000"/>
                        <a:lumOff val="80000"/>
                      </a:schemeClr>
                    </a:solidFill>
                  </a:tcPr>
                </a:tc>
                <a:extLst>
                  <a:ext uri="{0D108BD9-81ED-4DB2-BD59-A6C34878D82A}">
                    <a16:rowId xmlns:a16="http://schemas.microsoft.com/office/drawing/2014/main" val="1925749950"/>
                  </a:ext>
                </a:extLst>
              </a:tr>
              <a:tr h="370840">
                <a:tc>
                  <a:txBody>
                    <a:bodyPr/>
                    <a:lstStyle/>
                    <a:p>
                      <a:r>
                        <a:rPr lang="en-US" dirty="0"/>
                        <a:t>Soil MBC</a:t>
                      </a:r>
                    </a:p>
                  </a:txBody>
                  <a:tcPr/>
                </a:tc>
                <a:tc>
                  <a:txBody>
                    <a:bodyPr/>
                    <a:lstStyle/>
                    <a:p>
                      <a:r>
                        <a:rPr lang="en-US" dirty="0"/>
                        <a:t>increase</a:t>
                      </a:r>
                    </a:p>
                  </a:txBody>
                  <a:tcPr/>
                </a:tc>
                <a:tc>
                  <a:txBody>
                    <a:bodyPr/>
                    <a:lstStyle/>
                    <a:p>
                      <a:r>
                        <a:rPr lang="en-US" dirty="0"/>
                        <a:t>spline</a:t>
                      </a:r>
                    </a:p>
                  </a:txBody>
                  <a:tcPr/>
                </a:tc>
                <a:tc>
                  <a:txBody>
                    <a:bodyPr/>
                    <a:lstStyle/>
                    <a:p>
                      <a:r>
                        <a:rPr lang="en-US" dirty="0"/>
                        <a:t>~2004, ~2016</a:t>
                      </a:r>
                    </a:p>
                  </a:txBody>
                  <a:tcPr/>
                </a:tc>
                <a:extLst>
                  <a:ext uri="{0D108BD9-81ED-4DB2-BD59-A6C34878D82A}">
                    <a16:rowId xmlns:a16="http://schemas.microsoft.com/office/drawing/2014/main" val="1044480125"/>
                  </a:ext>
                </a:extLst>
              </a:tr>
              <a:tr h="370840">
                <a:tc>
                  <a:txBody>
                    <a:bodyPr/>
                    <a:lstStyle/>
                    <a:p>
                      <a:r>
                        <a:rPr lang="en-US" dirty="0"/>
                        <a:t>Soil CO</a:t>
                      </a:r>
                      <a:r>
                        <a:rPr lang="en-US" baseline="-25000" dirty="0"/>
                        <a:t>2</a:t>
                      </a:r>
                    </a:p>
                  </a:txBody>
                  <a:tcPr/>
                </a:tc>
                <a:tc>
                  <a:txBody>
                    <a:bodyPr/>
                    <a:lstStyle/>
                    <a:p>
                      <a:r>
                        <a:rPr lang="en-US" dirty="0"/>
                        <a:t>increase</a:t>
                      </a:r>
                    </a:p>
                  </a:txBody>
                  <a:tcPr/>
                </a:tc>
                <a:tc>
                  <a:txBody>
                    <a:bodyPr/>
                    <a:lstStyle/>
                    <a:p>
                      <a:r>
                        <a:rPr lang="en-US" dirty="0"/>
                        <a:t>segmented</a:t>
                      </a:r>
                    </a:p>
                  </a:txBody>
                  <a:tcPr/>
                </a:tc>
                <a:tc>
                  <a:txBody>
                    <a:bodyPr/>
                    <a:lstStyle/>
                    <a:p>
                      <a:r>
                        <a:rPr lang="en-US" dirty="0"/>
                        <a:t>2015</a:t>
                      </a:r>
                    </a:p>
                  </a:txBody>
                  <a:tcPr/>
                </a:tc>
                <a:extLst>
                  <a:ext uri="{0D108BD9-81ED-4DB2-BD59-A6C34878D82A}">
                    <a16:rowId xmlns:a16="http://schemas.microsoft.com/office/drawing/2014/main" val="3238260066"/>
                  </a:ext>
                </a:extLst>
              </a:tr>
              <a:tr h="370840">
                <a:tc>
                  <a:txBody>
                    <a:bodyPr/>
                    <a:lstStyle/>
                    <a:p>
                      <a:r>
                        <a:rPr lang="en-US" dirty="0"/>
                        <a:t>Soil CH</a:t>
                      </a:r>
                      <a:r>
                        <a:rPr lang="en-US" baseline="-25000" dirty="0"/>
                        <a:t>4</a:t>
                      </a:r>
                    </a:p>
                  </a:txBody>
                  <a:tcPr/>
                </a:tc>
                <a:tc>
                  <a:txBody>
                    <a:bodyPr/>
                    <a:lstStyle/>
                    <a:p>
                      <a:r>
                        <a:rPr lang="en-US" dirty="0"/>
                        <a:t>increase (consumption)</a:t>
                      </a:r>
                    </a:p>
                  </a:txBody>
                  <a:tcPr/>
                </a:tc>
                <a:tc>
                  <a:txBody>
                    <a:bodyPr/>
                    <a:lstStyle/>
                    <a:p>
                      <a:r>
                        <a:rPr lang="en-US" dirty="0"/>
                        <a:t>segmented</a:t>
                      </a:r>
                    </a:p>
                  </a:txBody>
                  <a:tcPr/>
                </a:tc>
                <a:tc>
                  <a:txBody>
                    <a:bodyPr/>
                    <a:lstStyle/>
                    <a:p>
                      <a:r>
                        <a:rPr lang="en-US" dirty="0"/>
                        <a:t>2015</a:t>
                      </a:r>
                    </a:p>
                  </a:txBody>
                  <a:tcPr/>
                </a:tc>
                <a:extLst>
                  <a:ext uri="{0D108BD9-81ED-4DB2-BD59-A6C34878D82A}">
                    <a16:rowId xmlns:a16="http://schemas.microsoft.com/office/drawing/2014/main" val="3910529218"/>
                  </a:ext>
                </a:extLst>
              </a:tr>
            </a:tbl>
          </a:graphicData>
        </a:graphic>
      </p:graphicFrame>
    </p:spTree>
    <p:extLst>
      <p:ext uri="{BB962C8B-B14F-4D97-AF65-F5344CB8AC3E}">
        <p14:creationId xmlns:p14="http://schemas.microsoft.com/office/powerpoint/2010/main" val="39819528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8042F-33B5-5ED1-52A2-F8388FBAB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648C63-53D0-E315-4765-7B9C53D65B6A}"/>
              </a:ext>
            </a:extLst>
          </p:cNvPr>
          <p:cNvSpPr>
            <a:spLocks noGrp="1"/>
          </p:cNvSpPr>
          <p:nvPr>
            <p:ph type="title"/>
          </p:nvPr>
        </p:nvSpPr>
        <p:spPr>
          <a:xfrm rot="16200000">
            <a:off x="-1954794" y="2608401"/>
            <a:ext cx="6257882" cy="1325563"/>
          </a:xfrm>
        </p:spPr>
        <p:txBody>
          <a:bodyPr/>
          <a:lstStyle/>
          <a:p>
            <a:r>
              <a:rPr lang="en-US" dirty="0"/>
              <a:t>Summary of watershed 6</a:t>
            </a:r>
          </a:p>
        </p:txBody>
      </p:sp>
      <p:graphicFrame>
        <p:nvGraphicFramePr>
          <p:cNvPr id="3" name="Table 2">
            <a:extLst>
              <a:ext uri="{FF2B5EF4-FFF2-40B4-BE49-F238E27FC236}">
                <a16:creationId xmlns:a16="http://schemas.microsoft.com/office/drawing/2014/main" id="{FB15D833-E15C-0C13-AA4F-EF859C3613AA}"/>
              </a:ext>
            </a:extLst>
          </p:cNvPr>
          <p:cNvGraphicFramePr>
            <a:graphicFrameLocks noGrp="1"/>
          </p:cNvGraphicFramePr>
          <p:nvPr>
            <p:extLst>
              <p:ext uri="{D42A27DB-BD31-4B8C-83A1-F6EECF244321}">
                <p14:modId xmlns:p14="http://schemas.microsoft.com/office/powerpoint/2010/main" val="3736884989"/>
              </p:ext>
            </p:extLst>
          </p:nvPr>
        </p:nvGraphicFramePr>
        <p:xfrm>
          <a:off x="2032000" y="299043"/>
          <a:ext cx="8128000" cy="610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053168605"/>
                    </a:ext>
                  </a:extLst>
                </a:gridCol>
                <a:gridCol w="2032000">
                  <a:extLst>
                    <a:ext uri="{9D8B030D-6E8A-4147-A177-3AD203B41FA5}">
                      <a16:colId xmlns:a16="http://schemas.microsoft.com/office/drawing/2014/main" val="406803457"/>
                    </a:ext>
                  </a:extLst>
                </a:gridCol>
                <a:gridCol w="2032000">
                  <a:extLst>
                    <a:ext uri="{9D8B030D-6E8A-4147-A177-3AD203B41FA5}">
                      <a16:colId xmlns:a16="http://schemas.microsoft.com/office/drawing/2014/main" val="2303642539"/>
                    </a:ext>
                  </a:extLst>
                </a:gridCol>
                <a:gridCol w="2032000">
                  <a:extLst>
                    <a:ext uri="{9D8B030D-6E8A-4147-A177-3AD203B41FA5}">
                      <a16:colId xmlns:a16="http://schemas.microsoft.com/office/drawing/2014/main" val="894268314"/>
                    </a:ext>
                  </a:extLst>
                </a:gridCol>
              </a:tblGrid>
              <a:tr h="159512">
                <a:tc>
                  <a:txBody>
                    <a:bodyPr/>
                    <a:lstStyle/>
                    <a:p>
                      <a:r>
                        <a:rPr lang="en-US" dirty="0"/>
                        <a:t>Parameter</a:t>
                      </a:r>
                    </a:p>
                  </a:txBody>
                  <a:tcPr/>
                </a:tc>
                <a:tc>
                  <a:txBody>
                    <a:bodyPr/>
                    <a:lstStyle/>
                    <a:p>
                      <a:r>
                        <a:rPr lang="en-US" dirty="0"/>
                        <a:t>Trend</a:t>
                      </a:r>
                    </a:p>
                  </a:txBody>
                  <a:tcPr/>
                </a:tc>
                <a:tc>
                  <a:txBody>
                    <a:bodyPr/>
                    <a:lstStyle/>
                    <a:p>
                      <a:r>
                        <a:rPr lang="en-US" dirty="0"/>
                        <a:t>Type</a:t>
                      </a:r>
                    </a:p>
                  </a:txBody>
                  <a:tcPr/>
                </a:tc>
                <a:tc>
                  <a:txBody>
                    <a:bodyPr/>
                    <a:lstStyle/>
                    <a:p>
                      <a:r>
                        <a:rPr lang="en-US" dirty="0"/>
                        <a:t>Breakpoint/</a:t>
                      </a:r>
                    </a:p>
                    <a:p>
                      <a:r>
                        <a:rPr lang="en-US" dirty="0"/>
                        <a:t>inflection</a:t>
                      </a:r>
                    </a:p>
                  </a:txBody>
                  <a:tcPr/>
                </a:tc>
                <a:extLst>
                  <a:ext uri="{0D108BD9-81ED-4DB2-BD59-A6C34878D82A}">
                    <a16:rowId xmlns:a16="http://schemas.microsoft.com/office/drawing/2014/main" val="2257417079"/>
                  </a:ext>
                </a:extLst>
              </a:tr>
              <a:tr h="370840">
                <a:tc>
                  <a:txBody>
                    <a:bodyPr/>
                    <a:lstStyle/>
                    <a:p>
                      <a:r>
                        <a:rPr lang="en-US" dirty="0"/>
                        <a:t>Air Temp</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132198683"/>
                  </a:ext>
                </a:extLst>
              </a:tr>
              <a:tr h="370840">
                <a:tc>
                  <a:txBody>
                    <a:bodyPr/>
                    <a:lstStyle/>
                    <a:p>
                      <a:r>
                        <a:rPr lang="en-US" dirty="0"/>
                        <a:t>Atm pH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segmented</a:t>
                      </a:r>
                    </a:p>
                  </a:txBody>
                  <a:tcPr/>
                </a:tc>
                <a:tc>
                  <a:txBody>
                    <a:bodyPr/>
                    <a:lstStyle/>
                    <a:p>
                      <a:r>
                        <a:rPr lang="en-US" dirty="0"/>
                        <a:t>2000</a:t>
                      </a:r>
                    </a:p>
                  </a:txBody>
                  <a:tcPr/>
                </a:tc>
                <a:extLst>
                  <a:ext uri="{0D108BD9-81ED-4DB2-BD59-A6C34878D82A}">
                    <a16:rowId xmlns:a16="http://schemas.microsoft.com/office/drawing/2014/main" val="3821254891"/>
                  </a:ext>
                </a:extLst>
              </a:tr>
              <a:tr h="370840">
                <a:tc>
                  <a:txBody>
                    <a:bodyPr/>
                    <a:lstStyle/>
                    <a:p>
                      <a:r>
                        <a:rPr lang="en-US" dirty="0"/>
                        <a:t>Atm DOC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increase</a:t>
                      </a:r>
                    </a:p>
                  </a:txBody>
                  <a:tcPr/>
                </a:tc>
                <a:tc>
                  <a:txBody>
                    <a:bodyPr/>
                    <a:lstStyle/>
                    <a:p>
                      <a:r>
                        <a:rPr lang="en-US" dirty="0"/>
                        <a:t>segmented</a:t>
                      </a:r>
                    </a:p>
                  </a:txBody>
                  <a:tcPr/>
                </a:tc>
                <a:tc>
                  <a:txBody>
                    <a:bodyPr/>
                    <a:lstStyle/>
                    <a:p>
                      <a:r>
                        <a:rPr lang="en-US" dirty="0"/>
                        <a:t>2009</a:t>
                      </a:r>
                    </a:p>
                  </a:txBody>
                  <a:tcPr/>
                </a:tc>
                <a:extLst>
                  <a:ext uri="{0D108BD9-81ED-4DB2-BD59-A6C34878D82A}">
                    <a16:rowId xmlns:a16="http://schemas.microsoft.com/office/drawing/2014/main" val="1322807257"/>
                  </a:ext>
                </a:extLst>
              </a:tr>
              <a:tr h="370840">
                <a:tc>
                  <a:txBody>
                    <a:bodyPr/>
                    <a:lstStyle/>
                    <a:p>
                      <a:r>
                        <a:rPr lang="en-US" dirty="0"/>
                        <a:t>Stream pH</a:t>
                      </a:r>
                    </a:p>
                  </a:txBody>
                  <a:tcPr/>
                </a:tc>
                <a:tc>
                  <a:txBody>
                    <a:bodyPr/>
                    <a:lstStyle/>
                    <a:p>
                      <a:r>
                        <a:rPr lang="en-US" dirty="0"/>
                        <a:t>increase</a:t>
                      </a:r>
                    </a:p>
                  </a:txBody>
                  <a:tcPr/>
                </a:tc>
                <a:tc>
                  <a:txBody>
                    <a:bodyPr/>
                    <a:lstStyle/>
                    <a:p>
                      <a:r>
                        <a:rPr lang="en-US" dirty="0"/>
                        <a:t>segmented</a:t>
                      </a:r>
                    </a:p>
                  </a:txBody>
                  <a:tcPr/>
                </a:tc>
                <a:tc>
                  <a:txBody>
                    <a:bodyPr/>
                    <a:lstStyle/>
                    <a:p>
                      <a:r>
                        <a:rPr lang="en-US" dirty="0"/>
                        <a:t>2000</a:t>
                      </a:r>
                    </a:p>
                  </a:txBody>
                  <a:tcPr/>
                </a:tc>
                <a:extLst>
                  <a:ext uri="{0D108BD9-81ED-4DB2-BD59-A6C34878D82A}">
                    <a16:rowId xmlns:a16="http://schemas.microsoft.com/office/drawing/2014/main" val="3529833541"/>
                  </a:ext>
                </a:extLst>
              </a:tr>
              <a:tr h="370840">
                <a:tc>
                  <a:txBody>
                    <a:bodyPr/>
                    <a:lstStyle/>
                    <a:p>
                      <a:r>
                        <a:rPr lang="en-US" dirty="0"/>
                        <a:t>Stream DOC</a:t>
                      </a:r>
                    </a:p>
                  </a:txBody>
                  <a:tcPr/>
                </a:tc>
                <a:tc>
                  <a:txBody>
                    <a:bodyPr/>
                    <a:lstStyle/>
                    <a:p>
                      <a:r>
                        <a:rPr lang="en-US" dirty="0"/>
                        <a:t>increase</a:t>
                      </a:r>
                    </a:p>
                  </a:txBody>
                  <a:tcPr/>
                </a:tc>
                <a:tc>
                  <a:txBody>
                    <a:bodyPr/>
                    <a:lstStyle/>
                    <a:p>
                      <a:r>
                        <a:rPr lang="en-US" dirty="0"/>
                        <a:t>segmented</a:t>
                      </a:r>
                    </a:p>
                  </a:txBody>
                  <a:tcPr/>
                </a:tc>
                <a:tc>
                  <a:txBody>
                    <a:bodyPr/>
                    <a:lstStyle/>
                    <a:p>
                      <a:r>
                        <a:rPr lang="en-US" dirty="0"/>
                        <a:t>1996</a:t>
                      </a:r>
                    </a:p>
                  </a:txBody>
                  <a:tcPr/>
                </a:tc>
                <a:extLst>
                  <a:ext uri="{0D108BD9-81ED-4DB2-BD59-A6C34878D82A}">
                    <a16:rowId xmlns:a16="http://schemas.microsoft.com/office/drawing/2014/main" val="2889405773"/>
                  </a:ext>
                </a:extLst>
              </a:tr>
              <a:tr h="370840">
                <a:tc>
                  <a:txBody>
                    <a:bodyPr/>
                    <a:lstStyle/>
                    <a:p>
                      <a:r>
                        <a:rPr lang="en-US" dirty="0"/>
                        <a:t>Stream DIC</a:t>
                      </a:r>
                    </a:p>
                  </a:txBody>
                  <a:tcPr>
                    <a:solidFill>
                      <a:schemeClr val="accent2">
                        <a:lumMod val="60000"/>
                        <a:lumOff val="40000"/>
                      </a:schemeClr>
                    </a:solidFill>
                  </a:tcPr>
                </a:tc>
                <a:tc>
                  <a:txBody>
                    <a:bodyPr/>
                    <a:lstStyle/>
                    <a:p>
                      <a:r>
                        <a:rPr lang="en-US" dirty="0"/>
                        <a:t>increase</a:t>
                      </a:r>
                    </a:p>
                  </a:txBody>
                  <a:tcPr>
                    <a:solidFill>
                      <a:schemeClr val="accent2">
                        <a:lumMod val="60000"/>
                        <a:lumOff val="40000"/>
                      </a:schemeClr>
                    </a:solidFill>
                  </a:tcPr>
                </a:tc>
                <a:tc>
                  <a:txBody>
                    <a:bodyPr/>
                    <a:lstStyle/>
                    <a:p>
                      <a:r>
                        <a:rPr lang="en-US" dirty="0"/>
                        <a:t>spline</a:t>
                      </a:r>
                    </a:p>
                  </a:txBody>
                  <a:tcPr>
                    <a:solidFill>
                      <a:schemeClr val="accent2">
                        <a:lumMod val="60000"/>
                        <a:lumOff val="40000"/>
                      </a:schemeClr>
                    </a:solidFill>
                  </a:tcPr>
                </a:tc>
                <a:tc>
                  <a:txBody>
                    <a:bodyPr/>
                    <a:lstStyle/>
                    <a:p>
                      <a:r>
                        <a:rPr lang="en-US" dirty="0"/>
                        <a:t>~2015</a:t>
                      </a:r>
                    </a:p>
                  </a:txBody>
                  <a:tcPr>
                    <a:solidFill>
                      <a:schemeClr val="accent2">
                        <a:lumMod val="60000"/>
                        <a:lumOff val="40000"/>
                      </a:schemeClr>
                    </a:solidFill>
                  </a:tcPr>
                </a:tc>
                <a:extLst>
                  <a:ext uri="{0D108BD9-81ED-4DB2-BD59-A6C34878D82A}">
                    <a16:rowId xmlns:a16="http://schemas.microsoft.com/office/drawing/2014/main" val="2071706720"/>
                  </a:ext>
                </a:extLst>
              </a:tr>
              <a:tr h="370840">
                <a:tc>
                  <a:txBody>
                    <a:bodyPr/>
                    <a:lstStyle/>
                    <a:p>
                      <a:r>
                        <a:rPr lang="en-US" dirty="0"/>
                        <a:t>Plant AG Biomass</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904893665"/>
                  </a:ext>
                </a:extLst>
              </a:tr>
              <a:tr h="370840">
                <a:tc>
                  <a:txBody>
                    <a:bodyPr/>
                    <a:lstStyle/>
                    <a:p>
                      <a:r>
                        <a:rPr lang="en-US" dirty="0"/>
                        <a:t>Plant Litterfall</a:t>
                      </a:r>
                    </a:p>
                  </a:txBody>
                  <a:tcPr/>
                </a:tc>
                <a:tc>
                  <a:txBody>
                    <a:bodyPr/>
                    <a:lstStyle/>
                    <a:p>
                      <a:r>
                        <a:rPr lang="en-US" dirty="0"/>
                        <a:t>No trend</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58746925"/>
                  </a:ext>
                </a:extLst>
              </a:tr>
              <a:tr h="370840">
                <a:tc>
                  <a:txBody>
                    <a:bodyPr/>
                    <a:lstStyle/>
                    <a:p>
                      <a:r>
                        <a:rPr lang="en-US" dirty="0"/>
                        <a:t>Soil Lys pH</a:t>
                      </a:r>
                    </a:p>
                  </a:txBody>
                  <a:tcPr/>
                </a:tc>
                <a:tc>
                  <a:txBody>
                    <a:bodyPr/>
                    <a:lstStyle/>
                    <a:p>
                      <a:r>
                        <a:rPr lang="en-US" dirty="0"/>
                        <a:t>increase (min)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Segmented?</a:t>
                      </a:r>
                    </a:p>
                  </a:txBody>
                  <a:tcPr/>
                </a:tc>
                <a:tc>
                  <a:txBody>
                    <a:bodyPr/>
                    <a:lstStyle/>
                    <a:p>
                      <a:r>
                        <a:rPr lang="en-US" dirty="0"/>
                        <a:t>1988</a:t>
                      </a:r>
                    </a:p>
                  </a:txBody>
                  <a:tcPr/>
                </a:tc>
                <a:extLst>
                  <a:ext uri="{0D108BD9-81ED-4DB2-BD59-A6C34878D82A}">
                    <a16:rowId xmlns:a16="http://schemas.microsoft.com/office/drawing/2014/main" val="4197786335"/>
                  </a:ext>
                </a:extLst>
              </a:tr>
              <a:tr h="370840">
                <a:tc>
                  <a:txBody>
                    <a:bodyPr/>
                    <a:lstStyle/>
                    <a:p>
                      <a:r>
                        <a:rPr lang="en-US" dirty="0"/>
                        <a:t>Soil Lys DOC</a:t>
                      </a:r>
                    </a:p>
                  </a:txBody>
                  <a:tcPr/>
                </a:tc>
                <a:tc>
                  <a:txBody>
                    <a:bodyPr/>
                    <a:lstStyle/>
                    <a:p>
                      <a:r>
                        <a:rPr lang="en-US" dirty="0"/>
                        <a:t>decrease (org)</a:t>
                      </a:r>
                    </a:p>
                  </a:txBody>
                  <a:tcPr/>
                </a:tc>
                <a:tc>
                  <a:txBody>
                    <a:bodyPr/>
                    <a:lstStyle/>
                    <a:p>
                      <a:r>
                        <a:rPr lang="en-US" dirty="0"/>
                        <a:t>linear</a:t>
                      </a:r>
                    </a:p>
                  </a:txBody>
                  <a:tcPr/>
                </a:tc>
                <a:tc>
                  <a:txBody>
                    <a:bodyPr/>
                    <a:lstStyle/>
                    <a:p>
                      <a:endParaRPr lang="en-US"/>
                    </a:p>
                  </a:txBody>
                  <a:tcPr/>
                </a:tc>
                <a:extLst>
                  <a:ext uri="{0D108BD9-81ED-4DB2-BD59-A6C34878D82A}">
                    <a16:rowId xmlns:a16="http://schemas.microsoft.com/office/drawing/2014/main" val="2983373126"/>
                  </a:ext>
                </a:extLst>
              </a:tr>
              <a:tr h="370840">
                <a:tc>
                  <a:txBody>
                    <a:bodyPr/>
                    <a:lstStyle/>
                    <a:p>
                      <a:r>
                        <a:rPr lang="en-US" dirty="0"/>
                        <a:t>Soil pH</a:t>
                      </a:r>
                    </a:p>
                  </a:txBody>
                  <a:tcPr>
                    <a:solidFill>
                      <a:schemeClr val="accent2">
                        <a:lumMod val="60000"/>
                        <a:lumOff val="40000"/>
                      </a:schemeClr>
                    </a:solidFill>
                  </a:tcPr>
                </a:tc>
                <a:tc>
                  <a:txBody>
                    <a:bodyPr/>
                    <a:lstStyle/>
                    <a:p>
                      <a:r>
                        <a:rPr lang="en-US" dirty="0"/>
                        <a:t>increase (min)</a:t>
                      </a:r>
                    </a:p>
                  </a:txBody>
                  <a:tcPr>
                    <a:solidFill>
                      <a:schemeClr val="accent2">
                        <a:lumMod val="60000"/>
                        <a:lumOff val="40000"/>
                      </a:schemeClr>
                    </a:solidFill>
                  </a:tcPr>
                </a:tc>
                <a:tc>
                  <a:txBody>
                    <a:bodyPr/>
                    <a:lstStyle/>
                    <a:p>
                      <a:r>
                        <a:rPr lang="en-US" dirty="0"/>
                        <a:t>spline</a:t>
                      </a:r>
                    </a:p>
                  </a:txBody>
                  <a:tcPr>
                    <a:solidFill>
                      <a:schemeClr val="accent2">
                        <a:lumMod val="60000"/>
                        <a:lumOff val="40000"/>
                      </a:schemeClr>
                    </a:solidFill>
                  </a:tcPr>
                </a:tc>
                <a:tc>
                  <a:txBody>
                    <a:bodyPr/>
                    <a:lstStyle/>
                    <a:p>
                      <a:r>
                        <a:rPr lang="en-US" dirty="0"/>
                        <a:t>~2015</a:t>
                      </a:r>
                    </a:p>
                  </a:txBody>
                  <a:tcPr>
                    <a:solidFill>
                      <a:schemeClr val="accent2">
                        <a:lumMod val="60000"/>
                        <a:lumOff val="40000"/>
                      </a:schemeClr>
                    </a:solidFill>
                  </a:tcPr>
                </a:tc>
                <a:extLst>
                  <a:ext uri="{0D108BD9-81ED-4DB2-BD59-A6C34878D82A}">
                    <a16:rowId xmlns:a16="http://schemas.microsoft.com/office/drawing/2014/main" val="1925749950"/>
                  </a:ext>
                </a:extLst>
              </a:tr>
              <a:tr h="370840">
                <a:tc>
                  <a:txBody>
                    <a:bodyPr/>
                    <a:lstStyle/>
                    <a:p>
                      <a:r>
                        <a:rPr lang="en-US" dirty="0"/>
                        <a:t>Soil MBC</a:t>
                      </a:r>
                    </a:p>
                  </a:txBody>
                  <a:tcPr>
                    <a:solidFill>
                      <a:schemeClr val="accent2">
                        <a:lumMod val="60000"/>
                        <a:lumOff val="40000"/>
                      </a:schemeClr>
                    </a:solidFill>
                  </a:tcPr>
                </a:tc>
                <a:tc>
                  <a:txBody>
                    <a:bodyPr/>
                    <a:lstStyle/>
                    <a:p>
                      <a:r>
                        <a:rPr lang="en-US" dirty="0"/>
                        <a:t>increase</a:t>
                      </a:r>
                    </a:p>
                  </a:txBody>
                  <a:tcPr>
                    <a:solidFill>
                      <a:schemeClr val="accent2">
                        <a:lumMod val="60000"/>
                        <a:lumOff val="40000"/>
                      </a:schemeClr>
                    </a:solidFill>
                  </a:tcPr>
                </a:tc>
                <a:tc>
                  <a:txBody>
                    <a:bodyPr/>
                    <a:lstStyle/>
                    <a:p>
                      <a:r>
                        <a:rPr lang="en-US" dirty="0"/>
                        <a:t>spline</a:t>
                      </a:r>
                    </a:p>
                  </a:txBody>
                  <a:tcPr>
                    <a:solidFill>
                      <a:schemeClr val="accent2">
                        <a:lumMod val="60000"/>
                        <a:lumOff val="40000"/>
                      </a:schemeClr>
                    </a:solidFill>
                  </a:tcPr>
                </a:tc>
                <a:tc>
                  <a:txBody>
                    <a:bodyPr/>
                    <a:lstStyle/>
                    <a:p>
                      <a:r>
                        <a:rPr lang="en-US" dirty="0"/>
                        <a:t>~2004, ~2016</a:t>
                      </a:r>
                    </a:p>
                  </a:txBody>
                  <a:tcPr>
                    <a:solidFill>
                      <a:schemeClr val="accent2">
                        <a:lumMod val="60000"/>
                        <a:lumOff val="40000"/>
                      </a:schemeClr>
                    </a:solidFill>
                  </a:tcPr>
                </a:tc>
                <a:extLst>
                  <a:ext uri="{0D108BD9-81ED-4DB2-BD59-A6C34878D82A}">
                    <a16:rowId xmlns:a16="http://schemas.microsoft.com/office/drawing/2014/main" val="1044480125"/>
                  </a:ext>
                </a:extLst>
              </a:tr>
              <a:tr h="370840">
                <a:tc>
                  <a:txBody>
                    <a:bodyPr/>
                    <a:lstStyle/>
                    <a:p>
                      <a:r>
                        <a:rPr lang="en-US" dirty="0"/>
                        <a:t>Soil CO</a:t>
                      </a:r>
                      <a:r>
                        <a:rPr lang="en-US" baseline="-25000" dirty="0"/>
                        <a:t>2</a:t>
                      </a:r>
                    </a:p>
                  </a:txBody>
                  <a:tcPr>
                    <a:solidFill>
                      <a:schemeClr val="accent2">
                        <a:lumMod val="60000"/>
                        <a:lumOff val="40000"/>
                      </a:schemeClr>
                    </a:solidFill>
                  </a:tcPr>
                </a:tc>
                <a:tc>
                  <a:txBody>
                    <a:bodyPr/>
                    <a:lstStyle/>
                    <a:p>
                      <a:r>
                        <a:rPr lang="en-US" dirty="0"/>
                        <a:t>increase</a:t>
                      </a:r>
                    </a:p>
                  </a:txBody>
                  <a:tcPr>
                    <a:solidFill>
                      <a:schemeClr val="accent2">
                        <a:lumMod val="60000"/>
                        <a:lumOff val="40000"/>
                      </a:schemeClr>
                    </a:solidFill>
                  </a:tcPr>
                </a:tc>
                <a:tc>
                  <a:txBody>
                    <a:bodyPr/>
                    <a:lstStyle/>
                    <a:p>
                      <a:r>
                        <a:rPr lang="en-US" dirty="0"/>
                        <a:t>segmented</a:t>
                      </a:r>
                    </a:p>
                  </a:txBody>
                  <a:tcPr>
                    <a:solidFill>
                      <a:schemeClr val="accent2">
                        <a:lumMod val="60000"/>
                        <a:lumOff val="40000"/>
                      </a:schemeClr>
                    </a:solidFill>
                  </a:tcPr>
                </a:tc>
                <a:tc>
                  <a:txBody>
                    <a:bodyPr/>
                    <a:lstStyle/>
                    <a:p>
                      <a:r>
                        <a:rPr lang="en-US" dirty="0"/>
                        <a:t>2015</a:t>
                      </a:r>
                    </a:p>
                  </a:txBody>
                  <a:tcPr>
                    <a:solidFill>
                      <a:schemeClr val="accent2">
                        <a:lumMod val="60000"/>
                        <a:lumOff val="40000"/>
                      </a:schemeClr>
                    </a:solidFill>
                  </a:tcPr>
                </a:tc>
                <a:extLst>
                  <a:ext uri="{0D108BD9-81ED-4DB2-BD59-A6C34878D82A}">
                    <a16:rowId xmlns:a16="http://schemas.microsoft.com/office/drawing/2014/main" val="3238260066"/>
                  </a:ext>
                </a:extLst>
              </a:tr>
              <a:tr h="370840">
                <a:tc>
                  <a:txBody>
                    <a:bodyPr/>
                    <a:lstStyle/>
                    <a:p>
                      <a:r>
                        <a:rPr lang="en-US" dirty="0"/>
                        <a:t>Soil CH</a:t>
                      </a:r>
                      <a:r>
                        <a:rPr lang="en-US" baseline="-25000" dirty="0"/>
                        <a:t>4</a:t>
                      </a:r>
                    </a:p>
                  </a:txBody>
                  <a:tcPr>
                    <a:solidFill>
                      <a:schemeClr val="accent2">
                        <a:lumMod val="60000"/>
                        <a:lumOff val="40000"/>
                      </a:schemeClr>
                    </a:solidFill>
                  </a:tcPr>
                </a:tc>
                <a:tc>
                  <a:txBody>
                    <a:bodyPr/>
                    <a:lstStyle/>
                    <a:p>
                      <a:r>
                        <a:rPr lang="en-US" dirty="0"/>
                        <a:t>increase (consumption)</a:t>
                      </a:r>
                    </a:p>
                  </a:txBody>
                  <a:tcPr>
                    <a:solidFill>
                      <a:schemeClr val="accent2">
                        <a:lumMod val="60000"/>
                        <a:lumOff val="40000"/>
                      </a:schemeClr>
                    </a:solidFill>
                  </a:tcPr>
                </a:tc>
                <a:tc>
                  <a:txBody>
                    <a:bodyPr/>
                    <a:lstStyle/>
                    <a:p>
                      <a:r>
                        <a:rPr lang="en-US" dirty="0"/>
                        <a:t>segmented</a:t>
                      </a:r>
                    </a:p>
                  </a:txBody>
                  <a:tcPr>
                    <a:solidFill>
                      <a:schemeClr val="accent2">
                        <a:lumMod val="60000"/>
                        <a:lumOff val="40000"/>
                      </a:schemeClr>
                    </a:solidFill>
                  </a:tcPr>
                </a:tc>
                <a:tc>
                  <a:txBody>
                    <a:bodyPr/>
                    <a:lstStyle/>
                    <a:p>
                      <a:r>
                        <a:rPr lang="en-US" dirty="0"/>
                        <a:t>2015</a:t>
                      </a:r>
                    </a:p>
                  </a:txBody>
                  <a:tcPr>
                    <a:solidFill>
                      <a:schemeClr val="accent2">
                        <a:lumMod val="60000"/>
                        <a:lumOff val="40000"/>
                      </a:schemeClr>
                    </a:solidFill>
                  </a:tcPr>
                </a:tc>
                <a:extLst>
                  <a:ext uri="{0D108BD9-81ED-4DB2-BD59-A6C34878D82A}">
                    <a16:rowId xmlns:a16="http://schemas.microsoft.com/office/drawing/2014/main" val="3910529218"/>
                  </a:ext>
                </a:extLst>
              </a:tr>
            </a:tbl>
          </a:graphicData>
        </a:graphic>
      </p:graphicFrame>
    </p:spTree>
    <p:extLst>
      <p:ext uri="{BB962C8B-B14F-4D97-AF65-F5344CB8AC3E}">
        <p14:creationId xmlns:p14="http://schemas.microsoft.com/office/powerpoint/2010/main" val="21571119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0BAD2-4A99-AF66-B328-FA04680FDB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571E1-49B2-086E-E5DC-609F2C8C4D32}"/>
              </a:ext>
            </a:extLst>
          </p:cNvPr>
          <p:cNvSpPr>
            <a:spLocks noGrp="1"/>
          </p:cNvSpPr>
          <p:nvPr>
            <p:ph type="title"/>
          </p:nvPr>
        </p:nvSpPr>
        <p:spPr>
          <a:xfrm>
            <a:off x="743198" y="89065"/>
            <a:ext cx="10515600" cy="1325563"/>
          </a:xfrm>
        </p:spPr>
        <p:txBody>
          <a:bodyPr/>
          <a:lstStyle/>
          <a:p>
            <a:r>
              <a:rPr lang="en-US" dirty="0"/>
              <a:t>Preliminary Conclusions</a:t>
            </a:r>
          </a:p>
        </p:txBody>
      </p:sp>
      <p:sp>
        <p:nvSpPr>
          <p:cNvPr id="3" name="Content Placeholder 2">
            <a:extLst>
              <a:ext uri="{FF2B5EF4-FFF2-40B4-BE49-F238E27FC236}">
                <a16:creationId xmlns:a16="http://schemas.microsoft.com/office/drawing/2014/main" id="{FF4A1E96-FC93-57B4-1480-D5F313FFC697}"/>
              </a:ext>
            </a:extLst>
          </p:cNvPr>
          <p:cNvSpPr>
            <a:spLocks noGrp="1"/>
          </p:cNvSpPr>
          <p:nvPr>
            <p:ph idx="1"/>
          </p:nvPr>
        </p:nvSpPr>
        <p:spPr>
          <a:xfrm>
            <a:off x="838200" y="1414628"/>
            <a:ext cx="10515600" cy="4943310"/>
          </a:xfrm>
        </p:spPr>
        <p:txBody>
          <a:bodyPr>
            <a:normAutofit/>
          </a:bodyPr>
          <a:lstStyle/>
          <a:p>
            <a:r>
              <a:rPr lang="en-US" dirty="0"/>
              <a:t>Most parameters investigated are increasing. Most responses were more complex than a simple linear relationship with time.</a:t>
            </a:r>
          </a:p>
          <a:p>
            <a:pPr marL="0" indent="0">
              <a:buNone/>
            </a:pPr>
            <a:endParaRPr lang="en-US" sz="1200" dirty="0"/>
          </a:p>
          <a:p>
            <a:r>
              <a:rPr lang="en-US" dirty="0"/>
              <a:t>Plant responses stand out for not changing.</a:t>
            </a:r>
          </a:p>
          <a:p>
            <a:endParaRPr lang="en-US" sz="1200" dirty="0"/>
          </a:p>
          <a:p>
            <a:r>
              <a:rPr lang="en-US" dirty="0"/>
              <a:t>Atm and stream pH responses are concurrent, soils were expected to lag, but how to explain lysimeter response?</a:t>
            </a:r>
          </a:p>
          <a:p>
            <a:endParaRPr lang="en-US" dirty="0"/>
          </a:p>
          <a:p>
            <a:r>
              <a:rPr lang="en-US" dirty="0"/>
              <a:t>Stream DIC response is similar to that of soil CO</a:t>
            </a:r>
            <a:r>
              <a:rPr lang="en-US" baseline="-25000" dirty="0"/>
              <a:t>2</a:t>
            </a:r>
            <a:r>
              <a:rPr lang="en-US" dirty="0"/>
              <a:t> flux</a:t>
            </a:r>
          </a:p>
          <a:p>
            <a:endParaRPr lang="en-US" sz="1200"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078192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E7ADC-C972-BBBB-A0F4-195FC78AE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72559-8E72-5508-06D8-D91EC1C8181B}"/>
              </a:ext>
            </a:extLst>
          </p:cNvPr>
          <p:cNvSpPr>
            <a:spLocks noGrp="1"/>
          </p:cNvSpPr>
          <p:nvPr>
            <p:ph type="title"/>
          </p:nvPr>
        </p:nvSpPr>
        <p:spPr>
          <a:xfrm>
            <a:off x="743198" y="89065"/>
            <a:ext cx="10515600" cy="1325563"/>
          </a:xfrm>
        </p:spPr>
        <p:txBody>
          <a:bodyPr/>
          <a:lstStyle/>
          <a:p>
            <a:r>
              <a:rPr lang="en-US" dirty="0"/>
              <a:t>Working group update</a:t>
            </a:r>
          </a:p>
        </p:txBody>
      </p:sp>
      <p:sp>
        <p:nvSpPr>
          <p:cNvPr id="3" name="Content Placeholder 2">
            <a:extLst>
              <a:ext uri="{FF2B5EF4-FFF2-40B4-BE49-F238E27FC236}">
                <a16:creationId xmlns:a16="http://schemas.microsoft.com/office/drawing/2014/main" id="{C976FD0F-62E9-244B-12A7-C746FCFD4D88}"/>
              </a:ext>
            </a:extLst>
          </p:cNvPr>
          <p:cNvSpPr>
            <a:spLocks noGrp="1"/>
          </p:cNvSpPr>
          <p:nvPr>
            <p:ph idx="1"/>
          </p:nvPr>
        </p:nvSpPr>
        <p:spPr>
          <a:xfrm>
            <a:off x="838200" y="1414628"/>
            <a:ext cx="10515600" cy="4943310"/>
          </a:xfrm>
        </p:spPr>
        <p:txBody>
          <a:bodyPr>
            <a:normAutofit/>
          </a:bodyPr>
          <a:lstStyle/>
          <a:p>
            <a:r>
              <a:rPr lang="en-US" dirty="0"/>
              <a:t>We will meet again in November</a:t>
            </a:r>
          </a:p>
          <a:p>
            <a:pPr marL="0" indent="0">
              <a:buNone/>
            </a:pPr>
            <a:endParaRPr lang="en-US" dirty="0"/>
          </a:p>
          <a:p>
            <a:r>
              <a:rPr lang="en-US" dirty="0"/>
              <a:t>Look for a When2Meet poll in your inbox</a:t>
            </a:r>
          </a:p>
          <a:p>
            <a:endParaRPr lang="en-US" sz="1200" dirty="0"/>
          </a:p>
          <a:p>
            <a:r>
              <a:rPr lang="en-US" dirty="0"/>
              <a:t>Interested in participating? Thoughts? Concerns? </a:t>
            </a:r>
          </a:p>
          <a:p>
            <a:pPr lvl="1"/>
            <a:r>
              <a:rPr lang="en-US" dirty="0"/>
              <a:t>Please contact me: </a:t>
            </a:r>
            <a:r>
              <a:rPr lang="en-US" dirty="0" err="1"/>
              <a:t>caitlin.hicks.pries@dartmouth.edu</a:t>
            </a: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17180317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D7C0E-EA6B-FF13-DA56-5AB972713C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340826-CCDC-511C-005D-54D0411902E9}"/>
              </a:ext>
            </a:extLst>
          </p:cNvPr>
          <p:cNvSpPr>
            <a:spLocks noGrp="1"/>
          </p:cNvSpPr>
          <p:nvPr>
            <p:ph type="title"/>
          </p:nvPr>
        </p:nvSpPr>
        <p:spPr>
          <a:xfrm>
            <a:off x="743198" y="89065"/>
            <a:ext cx="10515600" cy="1325563"/>
          </a:xfrm>
        </p:spPr>
        <p:txBody>
          <a:bodyPr/>
          <a:lstStyle/>
          <a:p>
            <a:r>
              <a:rPr lang="en-US" dirty="0"/>
              <a:t>Questions? Suggestions?</a:t>
            </a:r>
          </a:p>
        </p:txBody>
      </p:sp>
      <p:sp>
        <p:nvSpPr>
          <p:cNvPr id="3" name="Content Placeholder 2">
            <a:extLst>
              <a:ext uri="{FF2B5EF4-FFF2-40B4-BE49-F238E27FC236}">
                <a16:creationId xmlns:a16="http://schemas.microsoft.com/office/drawing/2014/main" id="{B270FA29-81ED-18EB-1113-AE51B4F31236}"/>
              </a:ext>
            </a:extLst>
          </p:cNvPr>
          <p:cNvSpPr>
            <a:spLocks noGrp="1"/>
          </p:cNvSpPr>
          <p:nvPr>
            <p:ph idx="1"/>
          </p:nvPr>
        </p:nvSpPr>
        <p:spPr>
          <a:xfrm>
            <a:off x="838200" y="1414628"/>
            <a:ext cx="10515600" cy="4943310"/>
          </a:xfrm>
        </p:spPr>
        <p:txBody>
          <a:bodyPr>
            <a:normAutofit/>
          </a:bodyPr>
          <a:lstStyle/>
          <a:p>
            <a:pPr marL="0" indent="0">
              <a:buNone/>
            </a:pPr>
            <a:endParaRPr lang="en-US" dirty="0"/>
          </a:p>
          <a:p>
            <a:endParaRPr lang="en-US" dirty="0"/>
          </a:p>
          <a:p>
            <a:endParaRPr lang="en-US" dirty="0"/>
          </a:p>
        </p:txBody>
      </p:sp>
    </p:spTree>
    <p:extLst>
      <p:ext uri="{BB962C8B-B14F-4D97-AF65-F5344CB8AC3E}">
        <p14:creationId xmlns:p14="http://schemas.microsoft.com/office/powerpoint/2010/main" val="3931213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17299</TotalTime>
  <Words>1239</Words>
  <Application>Microsoft Macintosh PowerPoint</Application>
  <PresentationFormat>Widescreen</PresentationFormat>
  <Paragraphs>309</Paragraphs>
  <Slides>32</Slides>
  <Notes>4</Notes>
  <HiddenSlides>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Aptos</vt:lpstr>
      <vt:lpstr>Aptos Display</vt:lpstr>
      <vt:lpstr>Arial</vt:lpstr>
      <vt:lpstr>Office Theme</vt:lpstr>
      <vt:lpstr>Temporal Trends in Carbon Cycling</vt:lpstr>
      <vt:lpstr>How has global change affected the carbon cycle at Hubbard Brook?</vt:lpstr>
      <vt:lpstr>Some Background</vt:lpstr>
      <vt:lpstr>PowerPoint Presentation</vt:lpstr>
      <vt:lpstr>Preliminary Hypothesis:</vt:lpstr>
      <vt:lpstr>Approach</vt:lpstr>
      <vt:lpstr>Atmospheric pH</vt:lpstr>
      <vt:lpstr>Climate Driver</vt:lpstr>
      <vt:lpstr>Atmospheric Driver</vt:lpstr>
      <vt:lpstr>Atmospheric Carbon</vt:lpstr>
      <vt:lpstr>Atmospheric Carbon</vt:lpstr>
      <vt:lpstr>Stream Response: DOC</vt:lpstr>
      <vt:lpstr>Stream Response: pH</vt:lpstr>
      <vt:lpstr>Stream Response: DOC</vt:lpstr>
      <vt:lpstr>Stream Response: DIC</vt:lpstr>
      <vt:lpstr>Stream Response</vt:lpstr>
      <vt:lpstr>Plant Response</vt:lpstr>
      <vt:lpstr>Plant Response: Aboveground Biomass</vt:lpstr>
      <vt:lpstr>Plant Response: Litterfall</vt:lpstr>
      <vt:lpstr>Soil Response</vt:lpstr>
      <vt:lpstr>Soil Response: Lysimeter pH</vt:lpstr>
      <vt:lpstr>Soil Response: Lysimeter DOC</vt:lpstr>
      <vt:lpstr>Soil Response: pH</vt:lpstr>
      <vt:lpstr>Soil Response: Microbial Biomass C</vt:lpstr>
      <vt:lpstr>Soil Response: CO2 Flux</vt:lpstr>
      <vt:lpstr>Soil Response: CH4 Flux</vt:lpstr>
      <vt:lpstr>Summary of watershed 6</vt:lpstr>
      <vt:lpstr>Summary of watershed 6</vt:lpstr>
      <vt:lpstr>Summary of watershed 6</vt:lpstr>
      <vt:lpstr>Preliminary Conclusions</vt:lpstr>
      <vt:lpstr>Working group update</vt:lpstr>
      <vt:lpstr>Questions? Suggestions?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Caitlin Hicks Pries</dc:creator>
  <cp:lastModifiedBy>Caitlin Hicks Pries</cp:lastModifiedBy>
  <cp:revision>37</cp:revision>
  <dcterms:created xsi:type="dcterms:W3CDTF">2026-07-06T00:56:09Z</dcterms:created>
  <dcterms:modified xsi:type="dcterms:W3CDTF">2026-10-21T04:49:09Z</dcterms:modified>
</cp:coreProperties>
</file>