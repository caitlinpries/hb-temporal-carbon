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7" r:id="rId2"/>
    <p:sldId id="259" r:id="rId3"/>
    <p:sldId id="267" r:id="rId4"/>
    <p:sldId id="256" r:id="rId5"/>
    <p:sldId id="269" r:id="rId6"/>
    <p:sldId id="268" r:id="rId7"/>
    <p:sldId id="258" r:id="rId8"/>
    <p:sldId id="260" r:id="rId9"/>
    <p:sldId id="270" r:id="rId10"/>
    <p:sldId id="271" r:id="rId11"/>
    <p:sldId id="262" r:id="rId12"/>
    <p:sldId id="263" r:id="rId13"/>
    <p:sldId id="264"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993"/>
  </p:normalViewPr>
  <p:slideViewPr>
    <p:cSldViewPr snapToGrid="0">
      <p:cViewPr>
        <p:scale>
          <a:sx n="110" d="100"/>
          <a:sy n="110" d="100"/>
        </p:scale>
        <p:origin x="82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8T01:40:34.561"/>
    </inkml:context>
    <inkml:brush xml:id="br0">
      <inkml:brushProperty name="width" value="0.05" units="cm"/>
      <inkml:brushProperty name="height" value="0.05" units="cm"/>
      <inkml:brushProperty name="color" value="#E71224"/>
    </inkml:brush>
  </inkml:definitions>
  <inkml:trace contextRef="#ctx0" brushRef="#br0">0 1204 24575,'0'46'0,"0"5"0,5 16 0,1-11 0,2-14 0,10 36 0,-6-10 0,9 21 0,-5-18 0,2-12 0,0 5 0,-3-5 0,0-9 0,-3-2 0,-1-10 0,0-6 0,-1-3 0,-3-9 0,-1-5 0,-2-6 0,-2-1 0,0-1 0,-1 2 0,1-1 0,0-2 0,2-10 0,5-13 0,5-18 0,10-15 0,4-8 0,-1 5 0,2-3-1056,13-26 1,2-3 1055,-1 6 0,0 0-1242,2-4 0,1-2 1242,-11 23 0,1 0 0,0 0 0,1 1 0,1-1 0,0 1 0,0-1 0,0 0 0,0 2-791,13-19 0,0 2 791,2 0 0,-2 3 0,-4 8 0,-1 4-295,-5 8 1,0 3 294,-3 4 0,-1 3 0,16-17 0,-5 10 1576,-12 15-1576,-4 5 2390,-7 7-2390,-3 4 1956,-3 3-1956,-5 6 844,-2 2-844,-2 4 0,-1 0 0,-1-1 0,-3 4 0,-2-2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821ACB-426E-C649-875B-06B6170E53D4}" type="datetimeFigureOut">
              <a:rPr lang="en-US" smtClean="0"/>
              <a:t>7/6/26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459AEE-7495-D24E-B21E-E45223BC7DA0}" type="slidenum">
              <a:rPr lang="en-US" smtClean="0"/>
              <a:t>‹#›</a:t>
            </a:fld>
            <a:endParaRPr lang="en-US"/>
          </a:p>
        </p:txBody>
      </p:sp>
    </p:spTree>
    <p:extLst>
      <p:ext uri="{BB962C8B-B14F-4D97-AF65-F5344CB8AC3E}">
        <p14:creationId xmlns:p14="http://schemas.microsoft.com/office/powerpoint/2010/main" val="52638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we use comparisons between watershed 1 and watershed 6 to tease apart climate vs atmospheric chemistry drivers?</a:t>
            </a:r>
          </a:p>
          <a:p>
            <a:endParaRPr lang="en-US" dirty="0"/>
          </a:p>
          <a:p>
            <a:r>
              <a:rPr lang="en-US" dirty="0"/>
              <a:t>Standardized change</a:t>
            </a:r>
          </a:p>
        </p:txBody>
      </p:sp>
      <p:sp>
        <p:nvSpPr>
          <p:cNvPr id="4" name="Slide Number Placeholder 3"/>
          <p:cNvSpPr>
            <a:spLocks noGrp="1"/>
          </p:cNvSpPr>
          <p:nvPr>
            <p:ph type="sldNum" sz="quarter" idx="5"/>
          </p:nvPr>
        </p:nvSpPr>
        <p:spPr/>
        <p:txBody>
          <a:bodyPr/>
          <a:lstStyle/>
          <a:p>
            <a:fld id="{35459AEE-7495-D24E-B21E-E45223BC7DA0}" type="slidenum">
              <a:rPr lang="en-US" smtClean="0"/>
              <a:t>4</a:t>
            </a:fld>
            <a:endParaRPr lang="en-US"/>
          </a:p>
        </p:txBody>
      </p:sp>
    </p:spTree>
    <p:extLst>
      <p:ext uri="{BB962C8B-B14F-4D97-AF65-F5344CB8AC3E}">
        <p14:creationId xmlns:p14="http://schemas.microsoft.com/office/powerpoint/2010/main" val="1371646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hypothesis, we would expect larger responses in WS1 than in WS6</a:t>
            </a:r>
          </a:p>
        </p:txBody>
      </p:sp>
      <p:sp>
        <p:nvSpPr>
          <p:cNvPr id="4" name="Slide Number Placeholder 3"/>
          <p:cNvSpPr>
            <a:spLocks noGrp="1"/>
          </p:cNvSpPr>
          <p:nvPr>
            <p:ph type="sldNum" sz="quarter" idx="5"/>
          </p:nvPr>
        </p:nvSpPr>
        <p:spPr/>
        <p:txBody>
          <a:bodyPr/>
          <a:lstStyle/>
          <a:p>
            <a:fld id="{35459AEE-7495-D24E-B21E-E45223BC7DA0}" type="slidenum">
              <a:rPr lang="en-US" smtClean="0"/>
              <a:t>6</a:t>
            </a:fld>
            <a:endParaRPr lang="en-US"/>
          </a:p>
        </p:txBody>
      </p:sp>
    </p:spTree>
    <p:extLst>
      <p:ext uri="{BB962C8B-B14F-4D97-AF65-F5344CB8AC3E}">
        <p14:creationId xmlns:p14="http://schemas.microsoft.com/office/powerpoint/2010/main" val="3175171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 these zeroes actually zeroes?</a:t>
            </a:r>
          </a:p>
        </p:txBody>
      </p:sp>
      <p:sp>
        <p:nvSpPr>
          <p:cNvPr id="4" name="Slide Number Placeholder 3"/>
          <p:cNvSpPr>
            <a:spLocks noGrp="1"/>
          </p:cNvSpPr>
          <p:nvPr>
            <p:ph type="sldNum" sz="quarter" idx="5"/>
          </p:nvPr>
        </p:nvSpPr>
        <p:spPr/>
        <p:txBody>
          <a:bodyPr/>
          <a:lstStyle/>
          <a:p>
            <a:fld id="{35459AEE-7495-D24E-B21E-E45223BC7DA0}" type="slidenum">
              <a:rPr lang="en-US" smtClean="0"/>
              <a:t>9</a:t>
            </a:fld>
            <a:endParaRPr lang="en-US"/>
          </a:p>
        </p:txBody>
      </p:sp>
    </p:spTree>
    <p:extLst>
      <p:ext uri="{BB962C8B-B14F-4D97-AF65-F5344CB8AC3E}">
        <p14:creationId xmlns:p14="http://schemas.microsoft.com/office/powerpoint/2010/main" val="811749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B72E9-6FD7-5F48-FC5D-10D2C290ED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40C660-A3C3-EE6F-4E8F-62F8BB3C8D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451A13-8853-5781-6221-F38E8B28006A}"/>
              </a:ext>
            </a:extLst>
          </p:cNvPr>
          <p:cNvSpPr>
            <a:spLocks noGrp="1"/>
          </p:cNvSpPr>
          <p:nvPr>
            <p:ph type="dt" sz="half" idx="10"/>
          </p:nvPr>
        </p:nvSpPr>
        <p:spPr/>
        <p:txBody>
          <a:bodyPr/>
          <a:lstStyle/>
          <a:p>
            <a:fld id="{D95CD87D-2D4F-8B45-B68F-79BCB0A7DEB7}" type="datetimeFigureOut">
              <a:rPr lang="en-US" smtClean="0"/>
              <a:t>7/5/26</a:t>
            </a:fld>
            <a:endParaRPr lang="en-US"/>
          </a:p>
        </p:txBody>
      </p:sp>
      <p:sp>
        <p:nvSpPr>
          <p:cNvPr id="5" name="Footer Placeholder 4">
            <a:extLst>
              <a:ext uri="{FF2B5EF4-FFF2-40B4-BE49-F238E27FC236}">
                <a16:creationId xmlns:a16="http://schemas.microsoft.com/office/drawing/2014/main" id="{0CB59F69-DA63-2341-A941-D5CD199E3E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9855B6-93F9-7EFC-CEEE-5FDFC2E01A93}"/>
              </a:ext>
            </a:extLst>
          </p:cNvPr>
          <p:cNvSpPr>
            <a:spLocks noGrp="1"/>
          </p:cNvSpPr>
          <p:nvPr>
            <p:ph type="sldNum" sz="quarter" idx="12"/>
          </p:nvPr>
        </p:nvSpPr>
        <p:spPr/>
        <p:txBody>
          <a:bodyPr/>
          <a:lstStyle/>
          <a:p>
            <a:fld id="{56B9DC4B-7100-3246-9FC6-6579CAF050A9}" type="slidenum">
              <a:rPr lang="en-US" smtClean="0"/>
              <a:t>‹#›</a:t>
            </a:fld>
            <a:endParaRPr lang="en-US"/>
          </a:p>
        </p:txBody>
      </p:sp>
    </p:spTree>
    <p:extLst>
      <p:ext uri="{BB962C8B-B14F-4D97-AF65-F5344CB8AC3E}">
        <p14:creationId xmlns:p14="http://schemas.microsoft.com/office/powerpoint/2010/main" val="763258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4E221-31B3-1B1F-66FA-3CA2A0AFE4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B2E8E-9AB4-B51F-1123-9E3A81F082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39AA02-FAAF-3F59-F8AA-E85131EA5CB0}"/>
              </a:ext>
            </a:extLst>
          </p:cNvPr>
          <p:cNvSpPr>
            <a:spLocks noGrp="1"/>
          </p:cNvSpPr>
          <p:nvPr>
            <p:ph type="dt" sz="half" idx="10"/>
          </p:nvPr>
        </p:nvSpPr>
        <p:spPr/>
        <p:txBody>
          <a:bodyPr/>
          <a:lstStyle/>
          <a:p>
            <a:fld id="{D95CD87D-2D4F-8B45-B68F-79BCB0A7DEB7}" type="datetimeFigureOut">
              <a:rPr lang="en-US" smtClean="0"/>
              <a:t>7/5/26</a:t>
            </a:fld>
            <a:endParaRPr lang="en-US"/>
          </a:p>
        </p:txBody>
      </p:sp>
      <p:sp>
        <p:nvSpPr>
          <p:cNvPr id="5" name="Footer Placeholder 4">
            <a:extLst>
              <a:ext uri="{FF2B5EF4-FFF2-40B4-BE49-F238E27FC236}">
                <a16:creationId xmlns:a16="http://schemas.microsoft.com/office/drawing/2014/main" id="{16A73D61-1356-886B-9D10-C3757C07EF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C56B6-8440-9C72-DE8F-D01EC3E42D9D}"/>
              </a:ext>
            </a:extLst>
          </p:cNvPr>
          <p:cNvSpPr>
            <a:spLocks noGrp="1"/>
          </p:cNvSpPr>
          <p:nvPr>
            <p:ph type="sldNum" sz="quarter" idx="12"/>
          </p:nvPr>
        </p:nvSpPr>
        <p:spPr/>
        <p:txBody>
          <a:bodyPr/>
          <a:lstStyle/>
          <a:p>
            <a:fld id="{56B9DC4B-7100-3246-9FC6-6579CAF050A9}" type="slidenum">
              <a:rPr lang="en-US" smtClean="0"/>
              <a:t>‹#›</a:t>
            </a:fld>
            <a:endParaRPr lang="en-US"/>
          </a:p>
        </p:txBody>
      </p:sp>
    </p:spTree>
    <p:extLst>
      <p:ext uri="{BB962C8B-B14F-4D97-AF65-F5344CB8AC3E}">
        <p14:creationId xmlns:p14="http://schemas.microsoft.com/office/powerpoint/2010/main" val="963142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9678-FA58-4DE2-62FE-2CDEFB3ED5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035CB3-49B1-7CE6-FE26-A98EED6598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D2177F-EFA8-3CFB-10B9-7F248BCFFAAF}"/>
              </a:ext>
            </a:extLst>
          </p:cNvPr>
          <p:cNvSpPr>
            <a:spLocks noGrp="1"/>
          </p:cNvSpPr>
          <p:nvPr>
            <p:ph type="dt" sz="half" idx="10"/>
          </p:nvPr>
        </p:nvSpPr>
        <p:spPr/>
        <p:txBody>
          <a:bodyPr/>
          <a:lstStyle/>
          <a:p>
            <a:fld id="{D95CD87D-2D4F-8B45-B68F-79BCB0A7DEB7}" type="datetimeFigureOut">
              <a:rPr lang="en-US" smtClean="0"/>
              <a:t>7/5/26</a:t>
            </a:fld>
            <a:endParaRPr lang="en-US"/>
          </a:p>
        </p:txBody>
      </p:sp>
      <p:sp>
        <p:nvSpPr>
          <p:cNvPr id="5" name="Footer Placeholder 4">
            <a:extLst>
              <a:ext uri="{FF2B5EF4-FFF2-40B4-BE49-F238E27FC236}">
                <a16:creationId xmlns:a16="http://schemas.microsoft.com/office/drawing/2014/main" id="{33C88512-D6B8-E738-DA7A-BDB4A7D331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ECA408-4093-EA56-DE7F-7A7318837348}"/>
              </a:ext>
            </a:extLst>
          </p:cNvPr>
          <p:cNvSpPr>
            <a:spLocks noGrp="1"/>
          </p:cNvSpPr>
          <p:nvPr>
            <p:ph type="sldNum" sz="quarter" idx="12"/>
          </p:nvPr>
        </p:nvSpPr>
        <p:spPr/>
        <p:txBody>
          <a:bodyPr/>
          <a:lstStyle/>
          <a:p>
            <a:fld id="{56B9DC4B-7100-3246-9FC6-6579CAF050A9}" type="slidenum">
              <a:rPr lang="en-US" smtClean="0"/>
              <a:t>‹#›</a:t>
            </a:fld>
            <a:endParaRPr lang="en-US"/>
          </a:p>
        </p:txBody>
      </p:sp>
    </p:spTree>
    <p:extLst>
      <p:ext uri="{BB962C8B-B14F-4D97-AF65-F5344CB8AC3E}">
        <p14:creationId xmlns:p14="http://schemas.microsoft.com/office/powerpoint/2010/main" val="3572483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0B66C-DE52-F8F9-D08D-B9D24712C2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BEB575-1D53-38DD-D9F4-BBCEF93356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A74A97-8572-173F-430A-F8F5D23ADF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8337EC-807E-665A-5F4D-8D0FBC936EE8}"/>
              </a:ext>
            </a:extLst>
          </p:cNvPr>
          <p:cNvSpPr>
            <a:spLocks noGrp="1"/>
          </p:cNvSpPr>
          <p:nvPr>
            <p:ph type="dt" sz="half" idx="10"/>
          </p:nvPr>
        </p:nvSpPr>
        <p:spPr/>
        <p:txBody>
          <a:bodyPr/>
          <a:lstStyle/>
          <a:p>
            <a:fld id="{D95CD87D-2D4F-8B45-B68F-79BCB0A7DEB7}" type="datetimeFigureOut">
              <a:rPr lang="en-US" smtClean="0"/>
              <a:t>7/5/26</a:t>
            </a:fld>
            <a:endParaRPr lang="en-US"/>
          </a:p>
        </p:txBody>
      </p:sp>
      <p:sp>
        <p:nvSpPr>
          <p:cNvPr id="6" name="Footer Placeholder 5">
            <a:extLst>
              <a:ext uri="{FF2B5EF4-FFF2-40B4-BE49-F238E27FC236}">
                <a16:creationId xmlns:a16="http://schemas.microsoft.com/office/drawing/2014/main" id="{20925B6D-EA4A-23BF-A017-25247604EF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40134B-53F2-0FCD-C3FA-8D7EB9E6F14F}"/>
              </a:ext>
            </a:extLst>
          </p:cNvPr>
          <p:cNvSpPr>
            <a:spLocks noGrp="1"/>
          </p:cNvSpPr>
          <p:nvPr>
            <p:ph type="sldNum" sz="quarter" idx="12"/>
          </p:nvPr>
        </p:nvSpPr>
        <p:spPr/>
        <p:txBody>
          <a:bodyPr/>
          <a:lstStyle/>
          <a:p>
            <a:fld id="{56B9DC4B-7100-3246-9FC6-6579CAF050A9}" type="slidenum">
              <a:rPr lang="en-US" smtClean="0"/>
              <a:t>‹#›</a:t>
            </a:fld>
            <a:endParaRPr lang="en-US"/>
          </a:p>
        </p:txBody>
      </p:sp>
    </p:spTree>
    <p:extLst>
      <p:ext uri="{BB962C8B-B14F-4D97-AF65-F5344CB8AC3E}">
        <p14:creationId xmlns:p14="http://schemas.microsoft.com/office/powerpoint/2010/main" val="1690587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0D0E4-8571-D3AC-5771-A3F1AB5DBB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312040-37C8-50A5-8677-B902DBCE4B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EA244E-2D6E-10B8-7B22-BEE2E9AB0E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00DE9D-8340-5B27-1FCA-2337BCDCEA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94FB38-A480-21DC-A897-C4BDFF5AE6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C1A094-E4BB-CB93-7ED0-8716B319105B}"/>
              </a:ext>
            </a:extLst>
          </p:cNvPr>
          <p:cNvSpPr>
            <a:spLocks noGrp="1"/>
          </p:cNvSpPr>
          <p:nvPr>
            <p:ph type="dt" sz="half" idx="10"/>
          </p:nvPr>
        </p:nvSpPr>
        <p:spPr/>
        <p:txBody>
          <a:bodyPr/>
          <a:lstStyle/>
          <a:p>
            <a:fld id="{D95CD87D-2D4F-8B45-B68F-79BCB0A7DEB7}" type="datetimeFigureOut">
              <a:rPr lang="en-US" smtClean="0"/>
              <a:t>7/5/26</a:t>
            </a:fld>
            <a:endParaRPr lang="en-US"/>
          </a:p>
        </p:txBody>
      </p:sp>
      <p:sp>
        <p:nvSpPr>
          <p:cNvPr id="8" name="Footer Placeholder 7">
            <a:extLst>
              <a:ext uri="{FF2B5EF4-FFF2-40B4-BE49-F238E27FC236}">
                <a16:creationId xmlns:a16="http://schemas.microsoft.com/office/drawing/2014/main" id="{67CBA0A6-C444-1560-1864-9D72C2B177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87B680-1DC9-D5B2-7AC8-413106A6ACF5}"/>
              </a:ext>
            </a:extLst>
          </p:cNvPr>
          <p:cNvSpPr>
            <a:spLocks noGrp="1"/>
          </p:cNvSpPr>
          <p:nvPr>
            <p:ph type="sldNum" sz="quarter" idx="12"/>
          </p:nvPr>
        </p:nvSpPr>
        <p:spPr/>
        <p:txBody>
          <a:bodyPr/>
          <a:lstStyle/>
          <a:p>
            <a:fld id="{56B9DC4B-7100-3246-9FC6-6579CAF050A9}" type="slidenum">
              <a:rPr lang="en-US" smtClean="0"/>
              <a:t>‹#›</a:t>
            </a:fld>
            <a:endParaRPr lang="en-US"/>
          </a:p>
        </p:txBody>
      </p:sp>
    </p:spTree>
    <p:extLst>
      <p:ext uri="{BB962C8B-B14F-4D97-AF65-F5344CB8AC3E}">
        <p14:creationId xmlns:p14="http://schemas.microsoft.com/office/powerpoint/2010/main" val="991170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79B47-107B-F7D2-8359-863D7B6EDE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B930A79-40B7-9BF0-B058-9ECAD0AFCEF2}"/>
              </a:ext>
            </a:extLst>
          </p:cNvPr>
          <p:cNvSpPr>
            <a:spLocks noGrp="1"/>
          </p:cNvSpPr>
          <p:nvPr>
            <p:ph type="dt" sz="half" idx="10"/>
          </p:nvPr>
        </p:nvSpPr>
        <p:spPr/>
        <p:txBody>
          <a:bodyPr/>
          <a:lstStyle/>
          <a:p>
            <a:fld id="{D95CD87D-2D4F-8B45-B68F-79BCB0A7DEB7}" type="datetimeFigureOut">
              <a:rPr lang="en-US" smtClean="0"/>
              <a:t>7/5/26</a:t>
            </a:fld>
            <a:endParaRPr lang="en-US"/>
          </a:p>
        </p:txBody>
      </p:sp>
      <p:sp>
        <p:nvSpPr>
          <p:cNvPr id="4" name="Footer Placeholder 3">
            <a:extLst>
              <a:ext uri="{FF2B5EF4-FFF2-40B4-BE49-F238E27FC236}">
                <a16:creationId xmlns:a16="http://schemas.microsoft.com/office/drawing/2014/main" id="{145F8CF3-6E61-E11F-7220-DA37AA20F8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9A668E-DF6B-DD08-8F1D-A92BED5213FC}"/>
              </a:ext>
            </a:extLst>
          </p:cNvPr>
          <p:cNvSpPr>
            <a:spLocks noGrp="1"/>
          </p:cNvSpPr>
          <p:nvPr>
            <p:ph type="sldNum" sz="quarter" idx="12"/>
          </p:nvPr>
        </p:nvSpPr>
        <p:spPr/>
        <p:txBody>
          <a:bodyPr/>
          <a:lstStyle/>
          <a:p>
            <a:fld id="{56B9DC4B-7100-3246-9FC6-6579CAF050A9}" type="slidenum">
              <a:rPr lang="en-US" smtClean="0"/>
              <a:t>‹#›</a:t>
            </a:fld>
            <a:endParaRPr lang="en-US"/>
          </a:p>
        </p:txBody>
      </p:sp>
    </p:spTree>
    <p:extLst>
      <p:ext uri="{BB962C8B-B14F-4D97-AF65-F5344CB8AC3E}">
        <p14:creationId xmlns:p14="http://schemas.microsoft.com/office/powerpoint/2010/main" val="3592327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4A6CFA-4BEA-C9B1-CC1C-CCD6F1D9A419}"/>
              </a:ext>
            </a:extLst>
          </p:cNvPr>
          <p:cNvSpPr>
            <a:spLocks noGrp="1"/>
          </p:cNvSpPr>
          <p:nvPr>
            <p:ph type="dt" sz="half" idx="10"/>
          </p:nvPr>
        </p:nvSpPr>
        <p:spPr/>
        <p:txBody>
          <a:bodyPr/>
          <a:lstStyle/>
          <a:p>
            <a:fld id="{D95CD87D-2D4F-8B45-B68F-79BCB0A7DEB7}" type="datetimeFigureOut">
              <a:rPr lang="en-US" smtClean="0"/>
              <a:t>7/5/26</a:t>
            </a:fld>
            <a:endParaRPr lang="en-US"/>
          </a:p>
        </p:txBody>
      </p:sp>
      <p:sp>
        <p:nvSpPr>
          <p:cNvPr id="3" name="Footer Placeholder 2">
            <a:extLst>
              <a:ext uri="{FF2B5EF4-FFF2-40B4-BE49-F238E27FC236}">
                <a16:creationId xmlns:a16="http://schemas.microsoft.com/office/drawing/2014/main" id="{7F570FFE-E84A-1940-05D5-A465CB60F4C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7E7283-B2AD-F08E-2703-61AD79DBB080}"/>
              </a:ext>
            </a:extLst>
          </p:cNvPr>
          <p:cNvSpPr>
            <a:spLocks noGrp="1"/>
          </p:cNvSpPr>
          <p:nvPr>
            <p:ph type="sldNum" sz="quarter" idx="12"/>
          </p:nvPr>
        </p:nvSpPr>
        <p:spPr/>
        <p:txBody>
          <a:bodyPr/>
          <a:lstStyle/>
          <a:p>
            <a:fld id="{56B9DC4B-7100-3246-9FC6-6579CAF050A9}" type="slidenum">
              <a:rPr lang="en-US" smtClean="0"/>
              <a:t>‹#›</a:t>
            </a:fld>
            <a:endParaRPr lang="en-US"/>
          </a:p>
        </p:txBody>
      </p:sp>
    </p:spTree>
    <p:extLst>
      <p:ext uri="{BB962C8B-B14F-4D97-AF65-F5344CB8AC3E}">
        <p14:creationId xmlns:p14="http://schemas.microsoft.com/office/powerpoint/2010/main" val="463115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5200-4DAA-5580-4017-B6F6542A8E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C3FBB0-4224-4108-1235-95AF08CC72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0B2AC1-CA3E-6013-579E-B25023426B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137998-B951-0A06-A519-18E8DC137904}"/>
              </a:ext>
            </a:extLst>
          </p:cNvPr>
          <p:cNvSpPr>
            <a:spLocks noGrp="1"/>
          </p:cNvSpPr>
          <p:nvPr>
            <p:ph type="dt" sz="half" idx="10"/>
          </p:nvPr>
        </p:nvSpPr>
        <p:spPr/>
        <p:txBody>
          <a:bodyPr/>
          <a:lstStyle/>
          <a:p>
            <a:fld id="{D95CD87D-2D4F-8B45-B68F-79BCB0A7DEB7}" type="datetimeFigureOut">
              <a:rPr lang="en-US" smtClean="0"/>
              <a:t>7/5/26</a:t>
            </a:fld>
            <a:endParaRPr lang="en-US"/>
          </a:p>
        </p:txBody>
      </p:sp>
      <p:sp>
        <p:nvSpPr>
          <p:cNvPr id="6" name="Footer Placeholder 5">
            <a:extLst>
              <a:ext uri="{FF2B5EF4-FFF2-40B4-BE49-F238E27FC236}">
                <a16:creationId xmlns:a16="http://schemas.microsoft.com/office/drawing/2014/main" id="{47806FF9-B381-1F4A-4EB7-0F927F10B5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047137-D4EC-F66B-9AAA-C12F1A36DFA0}"/>
              </a:ext>
            </a:extLst>
          </p:cNvPr>
          <p:cNvSpPr>
            <a:spLocks noGrp="1"/>
          </p:cNvSpPr>
          <p:nvPr>
            <p:ph type="sldNum" sz="quarter" idx="12"/>
          </p:nvPr>
        </p:nvSpPr>
        <p:spPr/>
        <p:txBody>
          <a:bodyPr/>
          <a:lstStyle/>
          <a:p>
            <a:fld id="{56B9DC4B-7100-3246-9FC6-6579CAF050A9}" type="slidenum">
              <a:rPr lang="en-US" smtClean="0"/>
              <a:t>‹#›</a:t>
            </a:fld>
            <a:endParaRPr lang="en-US"/>
          </a:p>
        </p:txBody>
      </p:sp>
    </p:spTree>
    <p:extLst>
      <p:ext uri="{BB962C8B-B14F-4D97-AF65-F5344CB8AC3E}">
        <p14:creationId xmlns:p14="http://schemas.microsoft.com/office/powerpoint/2010/main" val="3317463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FEB3F-B156-FCD5-4ACC-BE07CA314A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4B7592-F7FD-30DC-C5B0-158C93CF22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359BE3-3C70-18FB-6388-F2007FA0D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C4C891-2586-15F5-9C1C-48DFE436515D}"/>
              </a:ext>
            </a:extLst>
          </p:cNvPr>
          <p:cNvSpPr>
            <a:spLocks noGrp="1"/>
          </p:cNvSpPr>
          <p:nvPr>
            <p:ph type="dt" sz="half" idx="10"/>
          </p:nvPr>
        </p:nvSpPr>
        <p:spPr/>
        <p:txBody>
          <a:bodyPr/>
          <a:lstStyle/>
          <a:p>
            <a:fld id="{D95CD87D-2D4F-8B45-B68F-79BCB0A7DEB7}" type="datetimeFigureOut">
              <a:rPr lang="en-US" smtClean="0"/>
              <a:t>7/5/26</a:t>
            </a:fld>
            <a:endParaRPr lang="en-US"/>
          </a:p>
        </p:txBody>
      </p:sp>
      <p:sp>
        <p:nvSpPr>
          <p:cNvPr id="6" name="Footer Placeholder 5">
            <a:extLst>
              <a:ext uri="{FF2B5EF4-FFF2-40B4-BE49-F238E27FC236}">
                <a16:creationId xmlns:a16="http://schemas.microsoft.com/office/drawing/2014/main" id="{765C022C-3755-A77D-37F2-C68E0F81A7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13930D-E343-93BF-5873-4657F630BB05}"/>
              </a:ext>
            </a:extLst>
          </p:cNvPr>
          <p:cNvSpPr>
            <a:spLocks noGrp="1"/>
          </p:cNvSpPr>
          <p:nvPr>
            <p:ph type="sldNum" sz="quarter" idx="12"/>
          </p:nvPr>
        </p:nvSpPr>
        <p:spPr/>
        <p:txBody>
          <a:bodyPr/>
          <a:lstStyle/>
          <a:p>
            <a:fld id="{56B9DC4B-7100-3246-9FC6-6579CAF050A9}" type="slidenum">
              <a:rPr lang="en-US" smtClean="0"/>
              <a:t>‹#›</a:t>
            </a:fld>
            <a:endParaRPr lang="en-US"/>
          </a:p>
        </p:txBody>
      </p:sp>
    </p:spTree>
    <p:extLst>
      <p:ext uri="{BB962C8B-B14F-4D97-AF65-F5344CB8AC3E}">
        <p14:creationId xmlns:p14="http://schemas.microsoft.com/office/powerpoint/2010/main" val="846661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47104-286F-B78F-04C5-B2F69AE5BE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AA7F59-2B7F-4AE7-4B7E-E6E007A8F0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2AB46A-365F-9793-8933-2BD4D6E72DF5}"/>
              </a:ext>
            </a:extLst>
          </p:cNvPr>
          <p:cNvSpPr>
            <a:spLocks noGrp="1"/>
          </p:cNvSpPr>
          <p:nvPr>
            <p:ph type="dt" sz="half" idx="10"/>
          </p:nvPr>
        </p:nvSpPr>
        <p:spPr/>
        <p:txBody>
          <a:bodyPr/>
          <a:lstStyle/>
          <a:p>
            <a:fld id="{D95CD87D-2D4F-8B45-B68F-79BCB0A7DEB7}" type="datetimeFigureOut">
              <a:rPr lang="en-US" smtClean="0"/>
              <a:t>7/5/26</a:t>
            </a:fld>
            <a:endParaRPr lang="en-US"/>
          </a:p>
        </p:txBody>
      </p:sp>
      <p:sp>
        <p:nvSpPr>
          <p:cNvPr id="5" name="Footer Placeholder 4">
            <a:extLst>
              <a:ext uri="{FF2B5EF4-FFF2-40B4-BE49-F238E27FC236}">
                <a16:creationId xmlns:a16="http://schemas.microsoft.com/office/drawing/2014/main" id="{0348F56A-2C6C-2998-70C6-090C618DCE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0250F-C519-748B-8C06-8F82571CEB6B}"/>
              </a:ext>
            </a:extLst>
          </p:cNvPr>
          <p:cNvSpPr>
            <a:spLocks noGrp="1"/>
          </p:cNvSpPr>
          <p:nvPr>
            <p:ph type="sldNum" sz="quarter" idx="12"/>
          </p:nvPr>
        </p:nvSpPr>
        <p:spPr/>
        <p:txBody>
          <a:bodyPr/>
          <a:lstStyle/>
          <a:p>
            <a:fld id="{56B9DC4B-7100-3246-9FC6-6579CAF050A9}" type="slidenum">
              <a:rPr lang="en-US" smtClean="0"/>
              <a:t>‹#›</a:t>
            </a:fld>
            <a:endParaRPr lang="en-US"/>
          </a:p>
        </p:txBody>
      </p:sp>
    </p:spTree>
    <p:extLst>
      <p:ext uri="{BB962C8B-B14F-4D97-AF65-F5344CB8AC3E}">
        <p14:creationId xmlns:p14="http://schemas.microsoft.com/office/powerpoint/2010/main" val="1921711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FB8202-A52E-8AFC-C67F-85568C25A1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BE11F1-802F-5E17-8E47-1BBE375DC4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6827AF-8F0A-7681-46E6-169F740F9E7A}"/>
              </a:ext>
            </a:extLst>
          </p:cNvPr>
          <p:cNvSpPr>
            <a:spLocks noGrp="1"/>
          </p:cNvSpPr>
          <p:nvPr>
            <p:ph type="dt" sz="half" idx="10"/>
          </p:nvPr>
        </p:nvSpPr>
        <p:spPr/>
        <p:txBody>
          <a:bodyPr/>
          <a:lstStyle/>
          <a:p>
            <a:fld id="{D95CD87D-2D4F-8B45-B68F-79BCB0A7DEB7}" type="datetimeFigureOut">
              <a:rPr lang="en-US" smtClean="0"/>
              <a:t>7/5/26</a:t>
            </a:fld>
            <a:endParaRPr lang="en-US"/>
          </a:p>
        </p:txBody>
      </p:sp>
      <p:sp>
        <p:nvSpPr>
          <p:cNvPr id="5" name="Footer Placeholder 4">
            <a:extLst>
              <a:ext uri="{FF2B5EF4-FFF2-40B4-BE49-F238E27FC236}">
                <a16:creationId xmlns:a16="http://schemas.microsoft.com/office/drawing/2014/main" id="{B03A5B7F-8FFB-8213-593F-0B686C727A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B75650-35B2-3B56-175C-091135600A15}"/>
              </a:ext>
            </a:extLst>
          </p:cNvPr>
          <p:cNvSpPr>
            <a:spLocks noGrp="1"/>
          </p:cNvSpPr>
          <p:nvPr>
            <p:ph type="sldNum" sz="quarter" idx="12"/>
          </p:nvPr>
        </p:nvSpPr>
        <p:spPr/>
        <p:txBody>
          <a:bodyPr/>
          <a:lstStyle/>
          <a:p>
            <a:fld id="{56B9DC4B-7100-3246-9FC6-6579CAF050A9}" type="slidenum">
              <a:rPr lang="en-US" smtClean="0"/>
              <a:t>‹#›</a:t>
            </a:fld>
            <a:endParaRPr lang="en-US"/>
          </a:p>
        </p:txBody>
      </p:sp>
    </p:spTree>
    <p:extLst>
      <p:ext uri="{BB962C8B-B14F-4D97-AF65-F5344CB8AC3E}">
        <p14:creationId xmlns:p14="http://schemas.microsoft.com/office/powerpoint/2010/main" val="1831948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081999-1EA1-6F6B-5EB4-127A913363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68145C-2AE6-B058-C089-A69F40009E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7A79B-0C6A-D083-1EB1-7EB125141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5CD87D-2D4F-8B45-B68F-79BCB0A7DEB7}" type="datetimeFigureOut">
              <a:rPr lang="en-US" smtClean="0"/>
              <a:t>7/5/26</a:t>
            </a:fld>
            <a:endParaRPr lang="en-US"/>
          </a:p>
        </p:txBody>
      </p:sp>
      <p:sp>
        <p:nvSpPr>
          <p:cNvPr id="5" name="Footer Placeholder 4">
            <a:extLst>
              <a:ext uri="{FF2B5EF4-FFF2-40B4-BE49-F238E27FC236}">
                <a16:creationId xmlns:a16="http://schemas.microsoft.com/office/drawing/2014/main" id="{AF1DF7D1-0B22-A3C4-D72A-07FC231052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CBAF617-879F-CE3A-C712-752CBF05B4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B9DC4B-7100-3246-9FC6-6579CAF050A9}" type="slidenum">
              <a:rPr lang="en-US" smtClean="0"/>
              <a:t>‹#›</a:t>
            </a:fld>
            <a:endParaRPr lang="en-US"/>
          </a:p>
        </p:txBody>
      </p:sp>
    </p:spTree>
    <p:extLst>
      <p:ext uri="{BB962C8B-B14F-4D97-AF65-F5344CB8AC3E}">
        <p14:creationId xmlns:p14="http://schemas.microsoft.com/office/powerpoint/2010/main" val="2760829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C09FB-2DC4-50DD-6568-15AF76746D47}"/>
              </a:ext>
            </a:extLst>
          </p:cNvPr>
          <p:cNvSpPr>
            <a:spLocks noGrp="1"/>
          </p:cNvSpPr>
          <p:nvPr>
            <p:ph type="ctrTitle"/>
          </p:nvPr>
        </p:nvSpPr>
        <p:spPr>
          <a:xfrm>
            <a:off x="2193402" y="798271"/>
            <a:ext cx="7805195" cy="2387600"/>
          </a:xfrm>
        </p:spPr>
        <p:txBody>
          <a:bodyPr/>
          <a:lstStyle/>
          <a:p>
            <a:r>
              <a:rPr lang="en-US" dirty="0"/>
              <a:t>Temporal Trends in Carbon Cycling</a:t>
            </a:r>
          </a:p>
        </p:txBody>
      </p:sp>
      <p:sp>
        <p:nvSpPr>
          <p:cNvPr id="3" name="Subtitle 2">
            <a:extLst>
              <a:ext uri="{FF2B5EF4-FFF2-40B4-BE49-F238E27FC236}">
                <a16:creationId xmlns:a16="http://schemas.microsoft.com/office/drawing/2014/main" id="{757F81AC-FFCF-9BD6-7128-1B42006A6BE1}"/>
              </a:ext>
            </a:extLst>
          </p:cNvPr>
          <p:cNvSpPr>
            <a:spLocks noGrp="1"/>
          </p:cNvSpPr>
          <p:nvPr>
            <p:ph type="subTitle" idx="1"/>
          </p:nvPr>
        </p:nvSpPr>
        <p:spPr>
          <a:xfrm>
            <a:off x="843022" y="3834382"/>
            <a:ext cx="10668000" cy="2387600"/>
          </a:xfrm>
        </p:spPr>
        <p:txBody>
          <a:bodyPr>
            <a:normAutofit fontScale="92500"/>
          </a:bodyPr>
          <a:lstStyle/>
          <a:p>
            <a:r>
              <a:rPr lang="en-US" dirty="0"/>
              <a:t>Caitlin Hicks Pries</a:t>
            </a:r>
          </a:p>
          <a:p>
            <a:r>
              <a:rPr lang="en-US" dirty="0"/>
              <a:t>and the members of the Carbon Temporal Synthesis Group (in no particular order): </a:t>
            </a:r>
          </a:p>
          <a:p>
            <a:r>
              <a:rPr lang="en-US" dirty="0"/>
              <a:t>Sophie von Fromm, Angela Possinger, Chris Solomon, Andrew Reinman, Heili Lowman, Peter Groffman, Emerson Conrad Rooney, Jason Demers, Geoff Wilson, Bob Fahey, Jeff Garnas, Pam Templer, Darby Bergyl, Scott Olinger, Nina Lany, and Alix Contosta</a:t>
            </a:r>
          </a:p>
        </p:txBody>
      </p:sp>
    </p:spTree>
    <p:extLst>
      <p:ext uri="{BB962C8B-B14F-4D97-AF65-F5344CB8AC3E}">
        <p14:creationId xmlns:p14="http://schemas.microsoft.com/office/powerpoint/2010/main" val="2608950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2E62931-8EB4-42BB-BAAB-D8757BE66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BEAA41-ACBF-4B16-9279-B415E57C3324}"/>
              </a:ext>
            </a:extLst>
          </p:cNvPr>
          <p:cNvSpPr>
            <a:spLocks noGrp="1"/>
          </p:cNvSpPr>
          <p:nvPr>
            <p:ph type="title"/>
          </p:nvPr>
        </p:nvSpPr>
        <p:spPr>
          <a:xfrm>
            <a:off x="6367461" y="728664"/>
            <a:ext cx="4984813" cy="3157080"/>
          </a:xfrm>
          <a:noFill/>
        </p:spPr>
        <p:txBody>
          <a:bodyPr vert="horz" lIns="91440" tIns="45720" rIns="91440" bIns="45720" rtlCol="0" anchor="b">
            <a:normAutofit/>
          </a:bodyPr>
          <a:lstStyle/>
          <a:p>
            <a:r>
              <a:rPr lang="en-US" sz="4800"/>
              <a:t>How has global change affected the carbon cycle at Hubbard Brook?</a:t>
            </a:r>
          </a:p>
        </p:txBody>
      </p:sp>
      <p:pic>
        <p:nvPicPr>
          <p:cNvPr id="8" name="Picture 7">
            <a:extLst>
              <a:ext uri="{FF2B5EF4-FFF2-40B4-BE49-F238E27FC236}">
                <a16:creationId xmlns:a16="http://schemas.microsoft.com/office/drawing/2014/main" id="{4CB75017-DD6A-8FB6-D86C-E2EFD01A0D39}"/>
              </a:ext>
            </a:extLst>
          </p:cNvPr>
          <p:cNvPicPr>
            <a:picLocks noChangeAspect="1"/>
          </p:cNvPicPr>
          <p:nvPr/>
        </p:nvPicPr>
        <p:blipFill>
          <a:blip r:embed="rId2"/>
          <a:srcRect r="14352" b="-2"/>
          <a:stretch>
            <a:fillRect/>
          </a:stretch>
        </p:blipFill>
        <p:spPr>
          <a:xfrm rot="5400000">
            <a:off x="-426243" y="426244"/>
            <a:ext cx="6858000" cy="6005512"/>
          </a:xfrm>
          <a:prstGeom prst="rect">
            <a:avLst/>
          </a:prstGeom>
        </p:spPr>
      </p:pic>
    </p:spTree>
    <p:extLst>
      <p:ext uri="{BB962C8B-B14F-4D97-AF65-F5344CB8AC3E}">
        <p14:creationId xmlns:p14="http://schemas.microsoft.com/office/powerpoint/2010/main" val="394167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4532C-C370-3FA0-2E0D-C16C883C33E6}"/>
              </a:ext>
            </a:extLst>
          </p:cNvPr>
          <p:cNvSpPr>
            <a:spLocks noGrp="1"/>
          </p:cNvSpPr>
          <p:nvPr>
            <p:ph type="title"/>
          </p:nvPr>
        </p:nvSpPr>
        <p:spPr/>
        <p:txBody>
          <a:bodyPr/>
          <a:lstStyle/>
          <a:p>
            <a:r>
              <a:rPr lang="en-US" dirty="0"/>
              <a:t>Some Background</a:t>
            </a:r>
          </a:p>
        </p:txBody>
      </p:sp>
      <p:sp>
        <p:nvSpPr>
          <p:cNvPr id="3" name="Content Placeholder 2">
            <a:extLst>
              <a:ext uri="{FF2B5EF4-FFF2-40B4-BE49-F238E27FC236}">
                <a16:creationId xmlns:a16="http://schemas.microsoft.com/office/drawing/2014/main" id="{542016CC-5663-EEFA-FFFB-C87685F97BB5}"/>
              </a:ext>
            </a:extLst>
          </p:cNvPr>
          <p:cNvSpPr>
            <a:spLocks noGrp="1"/>
          </p:cNvSpPr>
          <p:nvPr>
            <p:ph idx="1"/>
          </p:nvPr>
        </p:nvSpPr>
        <p:spPr/>
        <p:txBody>
          <a:bodyPr/>
          <a:lstStyle/>
          <a:p>
            <a:r>
              <a:rPr lang="en-US" dirty="0"/>
              <a:t>This effort came out of the Carbon Cycle workshop in January</a:t>
            </a:r>
          </a:p>
          <a:p>
            <a:endParaRPr lang="en-US" dirty="0"/>
          </a:p>
          <a:p>
            <a:r>
              <a:rPr lang="en-US" dirty="0"/>
              <a:t>We want to find a way to synthesize the myriad of long-term data products related to the carbon cycle</a:t>
            </a:r>
          </a:p>
          <a:p>
            <a:endParaRPr lang="en-US" dirty="0"/>
          </a:p>
          <a:p>
            <a:r>
              <a:rPr lang="en-US" dirty="0"/>
              <a:t>There are many projects examining temporal trends at Hubbard Brook, but we *think* this is the only one focused on connecting all of the carbon cycle-related data</a:t>
            </a:r>
          </a:p>
          <a:p>
            <a:endParaRPr lang="en-US" dirty="0"/>
          </a:p>
        </p:txBody>
      </p:sp>
    </p:spTree>
    <p:extLst>
      <p:ext uri="{BB962C8B-B14F-4D97-AF65-F5344CB8AC3E}">
        <p14:creationId xmlns:p14="http://schemas.microsoft.com/office/powerpoint/2010/main" val="1851590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AB8BB5-164C-4EEC-7395-4E457DA2FAE9}"/>
              </a:ext>
            </a:extLst>
          </p:cNvPr>
          <p:cNvSpPr txBox="1"/>
          <p:nvPr/>
        </p:nvSpPr>
        <p:spPr>
          <a:xfrm>
            <a:off x="5442856" y="643622"/>
            <a:ext cx="6444344" cy="4801314"/>
          </a:xfrm>
          <a:prstGeom prst="rect">
            <a:avLst/>
          </a:prstGeom>
          <a:noFill/>
        </p:spPr>
        <p:txBody>
          <a:bodyPr wrap="square" rtlCol="0">
            <a:spAutoFit/>
          </a:bodyPr>
          <a:lstStyle/>
          <a:p>
            <a:r>
              <a:rPr lang="en-US" sz="3200" dirty="0"/>
              <a:t>What is the rate and direction of change of carbon-related parameters in </a:t>
            </a:r>
            <a:r>
              <a:rPr lang="en-US" sz="3200" b="1" dirty="0">
                <a:solidFill>
                  <a:srgbClr val="0070C0"/>
                </a:solidFill>
              </a:rPr>
              <a:t>streams</a:t>
            </a:r>
            <a:r>
              <a:rPr lang="en-US" sz="3200" dirty="0"/>
              <a:t>,</a:t>
            </a:r>
            <a:r>
              <a:rPr lang="en-US" sz="3200" b="1" dirty="0">
                <a:solidFill>
                  <a:srgbClr val="0070C0"/>
                </a:solidFill>
              </a:rPr>
              <a:t> </a:t>
            </a:r>
            <a:r>
              <a:rPr lang="en-US" sz="3200" b="1" dirty="0">
                <a:solidFill>
                  <a:schemeClr val="accent6"/>
                </a:solidFill>
              </a:rPr>
              <a:t>plants</a:t>
            </a:r>
            <a:r>
              <a:rPr lang="en-US" sz="3200" dirty="0"/>
              <a:t>, and </a:t>
            </a:r>
            <a:r>
              <a:rPr lang="en-US" sz="3200" b="1" dirty="0">
                <a:solidFill>
                  <a:schemeClr val="accent2">
                    <a:lumMod val="50000"/>
                  </a:schemeClr>
                </a:solidFill>
              </a:rPr>
              <a:t>soils </a:t>
            </a:r>
            <a:r>
              <a:rPr lang="en-US" sz="3200" dirty="0"/>
              <a:t>over the past ~30-40 years at Hubbard Brook? Are these changes gradual or abrupt?</a:t>
            </a:r>
          </a:p>
          <a:p>
            <a:endParaRPr lang="en-US" dirty="0"/>
          </a:p>
          <a:p>
            <a:r>
              <a:rPr lang="en-US" sz="3200" dirty="0"/>
              <a:t>How do these trends compare to changes in drivers?</a:t>
            </a:r>
          </a:p>
          <a:p>
            <a:endParaRPr lang="en-US" sz="3200" dirty="0"/>
          </a:p>
        </p:txBody>
      </p:sp>
      <p:pic>
        <p:nvPicPr>
          <p:cNvPr id="7" name="Picture 6">
            <a:extLst>
              <a:ext uri="{FF2B5EF4-FFF2-40B4-BE49-F238E27FC236}">
                <a16:creationId xmlns:a16="http://schemas.microsoft.com/office/drawing/2014/main" id="{B5C9B33B-8683-C90F-405D-E2990F8F4E68}"/>
              </a:ext>
            </a:extLst>
          </p:cNvPr>
          <p:cNvPicPr>
            <a:picLocks noChangeAspect="1"/>
          </p:cNvPicPr>
          <p:nvPr/>
        </p:nvPicPr>
        <p:blipFill>
          <a:blip r:embed="rId3"/>
          <a:stretch>
            <a:fillRect/>
          </a:stretch>
        </p:blipFill>
        <p:spPr>
          <a:xfrm>
            <a:off x="0" y="26872"/>
            <a:ext cx="5125741" cy="6831128"/>
          </a:xfrm>
          <a:prstGeom prst="rect">
            <a:avLst/>
          </a:prstGeom>
        </p:spPr>
      </p:pic>
    </p:spTree>
    <p:extLst>
      <p:ext uri="{BB962C8B-B14F-4D97-AF65-F5344CB8AC3E}">
        <p14:creationId xmlns:p14="http://schemas.microsoft.com/office/powerpoint/2010/main" val="2956721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062C7-2649-9A81-45EF-B7C736A90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2246C-C71E-B9DE-B137-C2F1E06C04D9}"/>
              </a:ext>
            </a:extLst>
          </p:cNvPr>
          <p:cNvSpPr>
            <a:spLocks noGrp="1"/>
          </p:cNvSpPr>
          <p:nvPr>
            <p:ph type="title"/>
          </p:nvPr>
        </p:nvSpPr>
        <p:spPr/>
        <p:txBody>
          <a:bodyPr/>
          <a:lstStyle/>
          <a:p>
            <a:r>
              <a:rPr lang="en-US" dirty="0"/>
              <a:t>Preliminary Hypothesis:</a:t>
            </a:r>
          </a:p>
        </p:txBody>
      </p:sp>
      <p:sp>
        <p:nvSpPr>
          <p:cNvPr id="3" name="Content Placeholder 2">
            <a:extLst>
              <a:ext uri="{FF2B5EF4-FFF2-40B4-BE49-F238E27FC236}">
                <a16:creationId xmlns:a16="http://schemas.microsoft.com/office/drawing/2014/main" id="{DA0EEFBE-CA57-8221-3F34-0C7B6550413B}"/>
              </a:ext>
            </a:extLst>
          </p:cNvPr>
          <p:cNvSpPr>
            <a:spLocks noGrp="1"/>
          </p:cNvSpPr>
          <p:nvPr>
            <p:ph idx="1"/>
          </p:nvPr>
        </p:nvSpPr>
        <p:spPr/>
        <p:txBody>
          <a:bodyPr>
            <a:normAutofit/>
          </a:bodyPr>
          <a:lstStyle/>
          <a:p>
            <a:pPr marL="0" indent="0">
              <a:buNone/>
            </a:pPr>
            <a:r>
              <a:rPr lang="en-US" sz="3600" dirty="0"/>
              <a:t>There is an interaction wherein the responses of carbon fluxes (inputs and outputs) to climate change are more pronounced after a certain threshold of recovery from the effects of acid rain is reached. </a:t>
            </a:r>
          </a:p>
          <a:p>
            <a:pPr marL="0" indent="0">
              <a:buNone/>
            </a:pPr>
            <a:endParaRPr lang="en-US" sz="3600" dirty="0"/>
          </a:p>
          <a:p>
            <a:pPr marL="0" indent="0">
              <a:buNone/>
            </a:pPr>
            <a:endParaRPr lang="en-US" dirty="0"/>
          </a:p>
          <a:p>
            <a:endParaRPr lang="en-US" dirty="0"/>
          </a:p>
        </p:txBody>
      </p:sp>
    </p:spTree>
    <p:extLst>
      <p:ext uri="{BB962C8B-B14F-4D97-AF65-F5344CB8AC3E}">
        <p14:creationId xmlns:p14="http://schemas.microsoft.com/office/powerpoint/2010/main" val="3477882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4CC-4285-3222-378F-EC5340334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D53DB-E9AD-AD0E-A5F2-B962D687814F}"/>
              </a:ext>
            </a:extLst>
          </p:cNvPr>
          <p:cNvSpPr>
            <a:spLocks noGrp="1"/>
          </p:cNvSpPr>
          <p:nvPr>
            <p:ph type="title"/>
          </p:nvPr>
        </p:nvSpPr>
        <p:spPr>
          <a:xfrm>
            <a:off x="743198" y="89065"/>
            <a:ext cx="10515600" cy="1325563"/>
          </a:xfrm>
        </p:spPr>
        <p:txBody>
          <a:bodyPr/>
          <a:lstStyle/>
          <a:p>
            <a:r>
              <a:rPr lang="en-US" dirty="0"/>
              <a:t>Approach</a:t>
            </a:r>
          </a:p>
        </p:txBody>
      </p:sp>
      <p:sp>
        <p:nvSpPr>
          <p:cNvPr id="3" name="Content Placeholder 2">
            <a:extLst>
              <a:ext uri="{FF2B5EF4-FFF2-40B4-BE49-F238E27FC236}">
                <a16:creationId xmlns:a16="http://schemas.microsoft.com/office/drawing/2014/main" id="{D1984591-C82C-EB28-7B87-1A95678C1AB9}"/>
              </a:ext>
            </a:extLst>
          </p:cNvPr>
          <p:cNvSpPr>
            <a:spLocks noGrp="1"/>
          </p:cNvSpPr>
          <p:nvPr>
            <p:ph idx="1"/>
          </p:nvPr>
        </p:nvSpPr>
        <p:spPr>
          <a:xfrm>
            <a:off x="838200" y="1414628"/>
            <a:ext cx="10515600" cy="4943310"/>
          </a:xfrm>
        </p:spPr>
        <p:txBody>
          <a:bodyPr>
            <a:normAutofit fontScale="92500" lnSpcReduction="10000"/>
          </a:bodyPr>
          <a:lstStyle/>
          <a:p>
            <a:pPr marL="0" indent="0">
              <a:buNone/>
            </a:pPr>
            <a:r>
              <a:rPr lang="en-US" dirty="0"/>
              <a:t>Graph all of the potentially relevant datasets!</a:t>
            </a:r>
          </a:p>
          <a:p>
            <a:pPr marL="0" indent="0">
              <a:buNone/>
            </a:pPr>
            <a:endParaRPr lang="en-US" dirty="0"/>
          </a:p>
          <a:p>
            <a:pPr marL="0" indent="0">
              <a:buNone/>
            </a:pPr>
            <a:r>
              <a:rPr lang="en-US" dirty="0"/>
              <a:t>Standardized analyses of the temporal datasets:</a:t>
            </a:r>
          </a:p>
          <a:p>
            <a:pPr marL="914400" lvl="1" indent="-457200">
              <a:buFont typeface="+mj-lt"/>
              <a:buAutoNum type="arabicPeriod"/>
            </a:pPr>
            <a:r>
              <a:rPr lang="en-US" dirty="0"/>
              <a:t>Is it changing?</a:t>
            </a:r>
          </a:p>
          <a:p>
            <a:pPr marL="914400" lvl="1" indent="-457200">
              <a:buFont typeface="+mj-lt"/>
              <a:buAutoNum type="arabicPeriod"/>
            </a:pPr>
            <a:r>
              <a:rPr lang="en-US" dirty="0"/>
              <a:t>Is there a linear trend? Positive or negative? What is the (standardized) slope?</a:t>
            </a:r>
          </a:p>
          <a:p>
            <a:pPr marL="914400" lvl="1" indent="-457200">
              <a:buFont typeface="+mj-lt"/>
              <a:buAutoNum type="arabicPeriod"/>
            </a:pPr>
            <a:r>
              <a:rPr lang="en-US" dirty="0"/>
              <a:t>How it is nonlinear?</a:t>
            </a:r>
          </a:p>
          <a:p>
            <a:pPr marL="914400" lvl="1" indent="-457200">
              <a:buFont typeface="+mj-lt"/>
              <a:buAutoNum type="arabicPeriod"/>
            </a:pPr>
            <a:r>
              <a:rPr lang="en-US" dirty="0"/>
              <a:t>Does it have a breakpoint?</a:t>
            </a:r>
          </a:p>
          <a:p>
            <a:endParaRPr lang="en-US" dirty="0"/>
          </a:p>
          <a:p>
            <a:pPr marL="0" indent="0">
              <a:buNone/>
            </a:pPr>
            <a:r>
              <a:rPr lang="en-US" dirty="0"/>
              <a:t>Unresolved: </a:t>
            </a:r>
          </a:p>
          <a:p>
            <a:pPr marL="514350" indent="-514350">
              <a:buFont typeface="+mj-lt"/>
              <a:buAutoNum type="arabicPeriod"/>
            </a:pPr>
            <a:r>
              <a:rPr lang="en-US" sz="2600" dirty="0"/>
              <a:t>Can we use comparisons between WS 1 and WS 6 to tease apart climate vs atmospheric chemistry drivers?</a:t>
            </a:r>
          </a:p>
          <a:p>
            <a:pPr marL="514350" indent="-514350">
              <a:buFont typeface="+mj-lt"/>
              <a:buAutoNum type="arabicPeriod"/>
            </a:pPr>
            <a:endParaRPr lang="en-US" sz="1300" dirty="0"/>
          </a:p>
          <a:p>
            <a:pPr marL="514350" indent="-514350">
              <a:buFont typeface="+mj-lt"/>
              <a:buAutoNum type="arabicPeriod"/>
            </a:pPr>
            <a:r>
              <a:rPr lang="en-US" sz="2600" dirty="0"/>
              <a:t>What about elevational gradients?</a:t>
            </a:r>
          </a:p>
          <a:p>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EA55BB2-AD88-D3F6-0FD4-A5C0EAA6EDAC}"/>
                  </a:ext>
                </a:extLst>
              </p14:cNvPr>
              <p14:cNvContentPartPr/>
              <p14:nvPr/>
            </p14:nvContentPartPr>
            <p14:xfrm>
              <a:off x="7375088" y="883012"/>
              <a:ext cx="614520" cy="804240"/>
            </p14:xfrm>
          </p:contentPart>
        </mc:Choice>
        <mc:Fallback>
          <p:pic>
            <p:nvPicPr>
              <p:cNvPr id="4" name="Ink 3">
                <a:extLst>
                  <a:ext uri="{FF2B5EF4-FFF2-40B4-BE49-F238E27FC236}">
                    <a16:creationId xmlns:a16="http://schemas.microsoft.com/office/drawing/2014/main" id="{7EA55BB2-AD88-D3F6-0FD4-A5C0EAA6EDAC}"/>
                  </a:ext>
                </a:extLst>
              </p:cNvPr>
              <p:cNvPicPr/>
              <p:nvPr/>
            </p:nvPicPr>
            <p:blipFill>
              <a:blip r:embed="rId4"/>
              <a:stretch>
                <a:fillRect/>
              </a:stretch>
            </p:blipFill>
            <p:spPr>
              <a:xfrm>
                <a:off x="7366088" y="874012"/>
                <a:ext cx="632160" cy="821880"/>
              </a:xfrm>
              <a:prstGeom prst="rect">
                <a:avLst/>
              </a:prstGeom>
            </p:spPr>
          </p:pic>
        </mc:Fallback>
      </mc:AlternateContent>
    </p:spTree>
    <p:extLst>
      <p:ext uri="{BB962C8B-B14F-4D97-AF65-F5344CB8AC3E}">
        <p14:creationId xmlns:p14="http://schemas.microsoft.com/office/powerpoint/2010/main" val="3632846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A289-2EAE-009E-FC64-A85A9159DB06}"/>
              </a:ext>
            </a:extLst>
          </p:cNvPr>
          <p:cNvSpPr>
            <a:spLocks noGrp="1"/>
          </p:cNvSpPr>
          <p:nvPr>
            <p:ph type="title"/>
          </p:nvPr>
        </p:nvSpPr>
        <p:spPr>
          <a:xfrm>
            <a:off x="838200" y="365126"/>
            <a:ext cx="10515600" cy="799306"/>
          </a:xfrm>
        </p:spPr>
        <p:txBody>
          <a:bodyPr/>
          <a:lstStyle/>
          <a:p>
            <a:r>
              <a:rPr lang="en-US" dirty="0"/>
              <a:t>Climate Driver</a:t>
            </a:r>
          </a:p>
        </p:txBody>
      </p:sp>
      <p:pic>
        <p:nvPicPr>
          <p:cNvPr id="8" name="Picture 7">
            <a:extLst>
              <a:ext uri="{FF2B5EF4-FFF2-40B4-BE49-F238E27FC236}">
                <a16:creationId xmlns:a16="http://schemas.microsoft.com/office/drawing/2014/main" id="{2F309B35-77B0-B43B-C4AA-C829D131A504}"/>
              </a:ext>
            </a:extLst>
          </p:cNvPr>
          <p:cNvPicPr>
            <a:picLocks noChangeAspect="1"/>
          </p:cNvPicPr>
          <p:nvPr/>
        </p:nvPicPr>
        <p:blipFill>
          <a:blip r:embed="rId2"/>
          <a:stretch>
            <a:fillRect/>
          </a:stretch>
        </p:blipFill>
        <p:spPr>
          <a:xfrm>
            <a:off x="597725" y="1297379"/>
            <a:ext cx="7315200" cy="4572000"/>
          </a:xfrm>
          <a:prstGeom prst="rect">
            <a:avLst/>
          </a:prstGeom>
        </p:spPr>
      </p:pic>
      <p:sp>
        <p:nvSpPr>
          <p:cNvPr id="9" name="TextBox 8">
            <a:extLst>
              <a:ext uri="{FF2B5EF4-FFF2-40B4-BE49-F238E27FC236}">
                <a16:creationId xmlns:a16="http://schemas.microsoft.com/office/drawing/2014/main" id="{9539A6D2-A659-5EA9-43A5-B2672309C085}"/>
              </a:ext>
            </a:extLst>
          </p:cNvPr>
          <p:cNvSpPr txBox="1"/>
          <p:nvPr/>
        </p:nvSpPr>
        <p:spPr>
          <a:xfrm>
            <a:off x="8399161" y="3149328"/>
            <a:ext cx="3962601" cy="923330"/>
          </a:xfrm>
          <a:prstGeom prst="rect">
            <a:avLst/>
          </a:prstGeom>
          <a:noFill/>
        </p:spPr>
        <p:txBody>
          <a:bodyPr wrap="square" rtlCol="0">
            <a:spAutoFit/>
          </a:bodyPr>
          <a:lstStyle/>
          <a:p>
            <a:r>
              <a:rPr lang="en-US" dirty="0"/>
              <a:t>Slope = 0.0286 °C year</a:t>
            </a:r>
            <a:r>
              <a:rPr lang="en-US" baseline="30000" dirty="0"/>
              <a:t>-1 </a:t>
            </a:r>
          </a:p>
          <a:p>
            <a:endParaRPr lang="en-US" dirty="0"/>
          </a:p>
          <a:p>
            <a:r>
              <a:rPr lang="en-US" dirty="0"/>
              <a:t>Standardized slope = 0.5352</a:t>
            </a:r>
          </a:p>
        </p:txBody>
      </p:sp>
      <p:pic>
        <p:nvPicPr>
          <p:cNvPr id="10" name="Picture 9">
            <a:extLst>
              <a:ext uri="{FF2B5EF4-FFF2-40B4-BE49-F238E27FC236}">
                <a16:creationId xmlns:a16="http://schemas.microsoft.com/office/drawing/2014/main" id="{139DF20F-59FB-8A46-3E1D-E4FB659B9F20}"/>
              </a:ext>
            </a:extLst>
          </p:cNvPr>
          <p:cNvPicPr>
            <a:picLocks noChangeAspect="1"/>
          </p:cNvPicPr>
          <p:nvPr/>
        </p:nvPicPr>
        <p:blipFill>
          <a:blip r:embed="rId3"/>
          <a:srcRect b="14000"/>
          <a:stretch>
            <a:fillRect/>
          </a:stretch>
        </p:blipFill>
        <p:spPr>
          <a:xfrm>
            <a:off x="5783402" y="222653"/>
            <a:ext cx="1335028" cy="1351504"/>
          </a:xfrm>
          <a:prstGeom prst="rect">
            <a:avLst/>
          </a:prstGeom>
        </p:spPr>
      </p:pic>
    </p:spTree>
    <p:extLst>
      <p:ext uri="{BB962C8B-B14F-4D97-AF65-F5344CB8AC3E}">
        <p14:creationId xmlns:p14="http://schemas.microsoft.com/office/powerpoint/2010/main" val="2585035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80994-BC14-0B43-9253-5E8471E0F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2D222-E8ED-3648-EAA9-9AFFAD9E93EF}"/>
              </a:ext>
            </a:extLst>
          </p:cNvPr>
          <p:cNvSpPr>
            <a:spLocks noGrp="1"/>
          </p:cNvSpPr>
          <p:nvPr>
            <p:ph type="title"/>
          </p:nvPr>
        </p:nvSpPr>
        <p:spPr>
          <a:xfrm>
            <a:off x="838200" y="365126"/>
            <a:ext cx="10515600" cy="799306"/>
          </a:xfrm>
        </p:spPr>
        <p:txBody>
          <a:bodyPr/>
          <a:lstStyle/>
          <a:p>
            <a:r>
              <a:rPr lang="en-US" dirty="0"/>
              <a:t>Atmospheric Chemistry Driver</a:t>
            </a:r>
          </a:p>
        </p:txBody>
      </p:sp>
      <p:sp>
        <p:nvSpPr>
          <p:cNvPr id="7" name="TextBox 6">
            <a:extLst>
              <a:ext uri="{FF2B5EF4-FFF2-40B4-BE49-F238E27FC236}">
                <a16:creationId xmlns:a16="http://schemas.microsoft.com/office/drawing/2014/main" id="{2BDF0D82-24B5-BCF3-81DD-A6C23D7795FC}"/>
              </a:ext>
            </a:extLst>
          </p:cNvPr>
          <p:cNvSpPr txBox="1"/>
          <p:nvPr/>
        </p:nvSpPr>
        <p:spPr>
          <a:xfrm>
            <a:off x="8422310" y="2505670"/>
            <a:ext cx="3962601" cy="923330"/>
          </a:xfrm>
          <a:prstGeom prst="rect">
            <a:avLst/>
          </a:prstGeom>
          <a:noFill/>
        </p:spPr>
        <p:txBody>
          <a:bodyPr wrap="square" rtlCol="0">
            <a:spAutoFit/>
          </a:bodyPr>
          <a:lstStyle/>
          <a:p>
            <a:r>
              <a:rPr lang="en-US" dirty="0"/>
              <a:t>Slope = 0.0253 pH units year</a:t>
            </a:r>
            <a:r>
              <a:rPr lang="en-US" baseline="30000" dirty="0"/>
              <a:t>-1 </a:t>
            </a:r>
          </a:p>
          <a:p>
            <a:endParaRPr lang="en-US" dirty="0"/>
          </a:p>
          <a:p>
            <a:r>
              <a:rPr lang="en-US" dirty="0"/>
              <a:t>Standardized slope = 0.9579</a:t>
            </a:r>
          </a:p>
        </p:txBody>
      </p:sp>
      <p:pic>
        <p:nvPicPr>
          <p:cNvPr id="11" name="Picture 10">
            <a:extLst>
              <a:ext uri="{FF2B5EF4-FFF2-40B4-BE49-F238E27FC236}">
                <a16:creationId xmlns:a16="http://schemas.microsoft.com/office/drawing/2014/main" id="{EA77C138-0E58-6633-33C2-B0873C11F90E}"/>
              </a:ext>
            </a:extLst>
          </p:cNvPr>
          <p:cNvPicPr>
            <a:picLocks noChangeAspect="1"/>
          </p:cNvPicPr>
          <p:nvPr/>
        </p:nvPicPr>
        <p:blipFill>
          <a:blip r:embed="rId2"/>
          <a:stretch>
            <a:fillRect/>
          </a:stretch>
        </p:blipFill>
        <p:spPr>
          <a:xfrm>
            <a:off x="425314" y="1613292"/>
            <a:ext cx="7315200" cy="4572000"/>
          </a:xfrm>
          <a:prstGeom prst="rect">
            <a:avLst/>
          </a:prstGeom>
        </p:spPr>
      </p:pic>
      <p:pic>
        <p:nvPicPr>
          <p:cNvPr id="12" name="Picture 11">
            <a:extLst>
              <a:ext uri="{FF2B5EF4-FFF2-40B4-BE49-F238E27FC236}">
                <a16:creationId xmlns:a16="http://schemas.microsoft.com/office/drawing/2014/main" id="{9EA4CA20-B0DD-6C6D-9F10-37B17EFB50DA}"/>
              </a:ext>
            </a:extLst>
          </p:cNvPr>
          <p:cNvPicPr>
            <a:picLocks noChangeAspect="1"/>
          </p:cNvPicPr>
          <p:nvPr/>
        </p:nvPicPr>
        <p:blipFill>
          <a:blip r:embed="rId3"/>
          <a:stretch>
            <a:fillRect/>
          </a:stretch>
        </p:blipFill>
        <p:spPr>
          <a:xfrm>
            <a:off x="8000277" y="91944"/>
            <a:ext cx="1260044" cy="1782501"/>
          </a:xfrm>
          <a:prstGeom prst="rect">
            <a:avLst/>
          </a:prstGeom>
        </p:spPr>
      </p:pic>
    </p:spTree>
    <p:extLst>
      <p:ext uri="{BB962C8B-B14F-4D97-AF65-F5344CB8AC3E}">
        <p14:creationId xmlns:p14="http://schemas.microsoft.com/office/powerpoint/2010/main" val="3138483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83E4F-6AF5-80BB-A834-88D13596B7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3238F-41E7-AFAB-B72A-08066C6B028E}"/>
              </a:ext>
            </a:extLst>
          </p:cNvPr>
          <p:cNvSpPr>
            <a:spLocks noGrp="1"/>
          </p:cNvSpPr>
          <p:nvPr>
            <p:ph type="title"/>
          </p:nvPr>
        </p:nvSpPr>
        <p:spPr>
          <a:xfrm>
            <a:off x="838200" y="365126"/>
            <a:ext cx="10515600" cy="799306"/>
          </a:xfrm>
        </p:spPr>
        <p:txBody>
          <a:bodyPr/>
          <a:lstStyle/>
          <a:p>
            <a:r>
              <a:rPr lang="en-US" dirty="0"/>
              <a:t>Atmospheric Carbon</a:t>
            </a:r>
          </a:p>
        </p:txBody>
      </p:sp>
      <p:sp>
        <p:nvSpPr>
          <p:cNvPr id="7" name="TextBox 6">
            <a:extLst>
              <a:ext uri="{FF2B5EF4-FFF2-40B4-BE49-F238E27FC236}">
                <a16:creationId xmlns:a16="http://schemas.microsoft.com/office/drawing/2014/main" id="{17AC2614-6DF4-88D9-72A6-9D5984900910}"/>
              </a:ext>
            </a:extLst>
          </p:cNvPr>
          <p:cNvSpPr txBox="1"/>
          <p:nvPr/>
        </p:nvSpPr>
        <p:spPr>
          <a:xfrm>
            <a:off x="8422310" y="2505670"/>
            <a:ext cx="3962601" cy="923330"/>
          </a:xfrm>
          <a:prstGeom prst="rect">
            <a:avLst/>
          </a:prstGeom>
          <a:noFill/>
        </p:spPr>
        <p:txBody>
          <a:bodyPr wrap="square" rtlCol="0">
            <a:spAutoFit/>
          </a:bodyPr>
          <a:lstStyle/>
          <a:p>
            <a:r>
              <a:rPr lang="en-US" dirty="0"/>
              <a:t>Slope = 0.03812 mg/L year</a:t>
            </a:r>
            <a:r>
              <a:rPr lang="en-US" baseline="30000" dirty="0"/>
              <a:t>-1 </a:t>
            </a:r>
          </a:p>
          <a:p>
            <a:endParaRPr lang="en-US" dirty="0"/>
          </a:p>
          <a:p>
            <a:r>
              <a:rPr lang="en-US" dirty="0"/>
              <a:t>Standardized slope = 1.001</a:t>
            </a:r>
          </a:p>
        </p:txBody>
      </p:sp>
      <p:pic>
        <p:nvPicPr>
          <p:cNvPr id="8" name="Picture 7">
            <a:extLst>
              <a:ext uri="{FF2B5EF4-FFF2-40B4-BE49-F238E27FC236}">
                <a16:creationId xmlns:a16="http://schemas.microsoft.com/office/drawing/2014/main" id="{6F9F7DEE-CA16-05E1-BBF6-E6F57E1C6D9A}"/>
              </a:ext>
            </a:extLst>
          </p:cNvPr>
          <p:cNvPicPr>
            <a:picLocks noChangeAspect="1"/>
          </p:cNvPicPr>
          <p:nvPr/>
        </p:nvPicPr>
        <p:blipFill>
          <a:blip r:embed="rId3"/>
          <a:stretch>
            <a:fillRect/>
          </a:stretch>
        </p:blipFill>
        <p:spPr>
          <a:xfrm>
            <a:off x="667474" y="1652286"/>
            <a:ext cx="7315200" cy="4572000"/>
          </a:xfrm>
          <a:prstGeom prst="rect">
            <a:avLst/>
          </a:prstGeom>
        </p:spPr>
      </p:pic>
      <p:pic>
        <p:nvPicPr>
          <p:cNvPr id="9" name="Picture 8">
            <a:extLst>
              <a:ext uri="{FF2B5EF4-FFF2-40B4-BE49-F238E27FC236}">
                <a16:creationId xmlns:a16="http://schemas.microsoft.com/office/drawing/2014/main" id="{82684C5E-2E2C-E64A-F176-6945F2BFA600}"/>
              </a:ext>
            </a:extLst>
          </p:cNvPr>
          <p:cNvPicPr>
            <a:picLocks noChangeAspect="1"/>
          </p:cNvPicPr>
          <p:nvPr/>
        </p:nvPicPr>
        <p:blipFill>
          <a:blip r:embed="rId4"/>
          <a:stretch>
            <a:fillRect/>
          </a:stretch>
        </p:blipFill>
        <p:spPr>
          <a:xfrm>
            <a:off x="5997857" y="91944"/>
            <a:ext cx="1260044" cy="1782501"/>
          </a:xfrm>
          <a:prstGeom prst="rect">
            <a:avLst/>
          </a:prstGeom>
        </p:spPr>
      </p:pic>
    </p:spTree>
    <p:extLst>
      <p:ext uri="{BB962C8B-B14F-4D97-AF65-F5344CB8AC3E}">
        <p14:creationId xmlns:p14="http://schemas.microsoft.com/office/powerpoint/2010/main" val="1606712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1C98B-61A6-C040-1041-382052487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CE8CE-3CD3-F533-D20F-C1E43D47989E}"/>
              </a:ext>
            </a:extLst>
          </p:cNvPr>
          <p:cNvSpPr>
            <a:spLocks noGrp="1"/>
          </p:cNvSpPr>
          <p:nvPr>
            <p:ph type="title"/>
          </p:nvPr>
        </p:nvSpPr>
        <p:spPr>
          <a:xfrm>
            <a:off x="838200" y="0"/>
            <a:ext cx="10515600" cy="1325563"/>
          </a:xfrm>
        </p:spPr>
        <p:txBody>
          <a:bodyPr/>
          <a:lstStyle/>
          <a:p>
            <a:r>
              <a:rPr lang="en-US" dirty="0"/>
              <a:t>Stream Response</a:t>
            </a:r>
          </a:p>
        </p:txBody>
      </p:sp>
      <p:pic>
        <p:nvPicPr>
          <p:cNvPr id="4" name="Picture 3">
            <a:extLst>
              <a:ext uri="{FF2B5EF4-FFF2-40B4-BE49-F238E27FC236}">
                <a16:creationId xmlns:a16="http://schemas.microsoft.com/office/drawing/2014/main" id="{596FB3E4-6794-9999-1B77-6BF3D1FE54CF}"/>
              </a:ext>
            </a:extLst>
          </p:cNvPr>
          <p:cNvPicPr>
            <a:picLocks noChangeAspect="1"/>
          </p:cNvPicPr>
          <p:nvPr/>
        </p:nvPicPr>
        <p:blipFill>
          <a:blip r:embed="rId2"/>
          <a:stretch>
            <a:fillRect/>
          </a:stretch>
        </p:blipFill>
        <p:spPr>
          <a:xfrm>
            <a:off x="366531" y="1455517"/>
            <a:ext cx="7315200" cy="4572000"/>
          </a:xfrm>
          <a:prstGeom prst="rect">
            <a:avLst/>
          </a:prstGeom>
        </p:spPr>
      </p:pic>
      <p:sp>
        <p:nvSpPr>
          <p:cNvPr id="5" name="TextBox 4">
            <a:extLst>
              <a:ext uri="{FF2B5EF4-FFF2-40B4-BE49-F238E27FC236}">
                <a16:creationId xmlns:a16="http://schemas.microsoft.com/office/drawing/2014/main" id="{1C265D37-D319-B6F7-92DF-386D9CC88BB8}"/>
              </a:ext>
            </a:extLst>
          </p:cNvPr>
          <p:cNvSpPr txBox="1"/>
          <p:nvPr/>
        </p:nvSpPr>
        <p:spPr>
          <a:xfrm>
            <a:off x="8422310" y="2505670"/>
            <a:ext cx="3962601" cy="923330"/>
          </a:xfrm>
          <a:prstGeom prst="rect">
            <a:avLst/>
          </a:prstGeom>
          <a:noFill/>
        </p:spPr>
        <p:txBody>
          <a:bodyPr wrap="square" rtlCol="0">
            <a:spAutoFit/>
          </a:bodyPr>
          <a:lstStyle/>
          <a:p>
            <a:r>
              <a:rPr lang="en-US" dirty="0"/>
              <a:t>Slope = 0.0331 mg/L year</a:t>
            </a:r>
            <a:r>
              <a:rPr lang="en-US" baseline="30000" dirty="0"/>
              <a:t>-1 </a:t>
            </a:r>
          </a:p>
          <a:p>
            <a:endParaRPr lang="en-US" dirty="0"/>
          </a:p>
          <a:p>
            <a:r>
              <a:rPr lang="en-US" dirty="0"/>
              <a:t>Standardized slope = 0.6833</a:t>
            </a:r>
          </a:p>
        </p:txBody>
      </p:sp>
      <p:pic>
        <p:nvPicPr>
          <p:cNvPr id="6" name="Picture 5">
            <a:extLst>
              <a:ext uri="{FF2B5EF4-FFF2-40B4-BE49-F238E27FC236}">
                <a16:creationId xmlns:a16="http://schemas.microsoft.com/office/drawing/2014/main" id="{B9C3B736-5545-13C0-2B6B-5C36FB9A7D08}"/>
              </a:ext>
            </a:extLst>
          </p:cNvPr>
          <p:cNvPicPr>
            <a:picLocks noChangeAspect="1"/>
          </p:cNvPicPr>
          <p:nvPr/>
        </p:nvPicPr>
        <p:blipFill>
          <a:blip r:embed="rId3"/>
          <a:stretch>
            <a:fillRect/>
          </a:stretch>
        </p:blipFill>
        <p:spPr>
          <a:xfrm>
            <a:off x="5526188" y="120540"/>
            <a:ext cx="2019300" cy="1270000"/>
          </a:xfrm>
          <a:prstGeom prst="rect">
            <a:avLst/>
          </a:prstGeom>
        </p:spPr>
      </p:pic>
    </p:spTree>
    <p:extLst>
      <p:ext uri="{BB962C8B-B14F-4D97-AF65-F5344CB8AC3E}">
        <p14:creationId xmlns:p14="http://schemas.microsoft.com/office/powerpoint/2010/main" val="3581558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44B2D-D6CC-3656-831C-54D59E75413E}"/>
              </a:ext>
            </a:extLst>
          </p:cNvPr>
          <p:cNvSpPr>
            <a:spLocks noGrp="1"/>
          </p:cNvSpPr>
          <p:nvPr>
            <p:ph type="title"/>
          </p:nvPr>
        </p:nvSpPr>
        <p:spPr>
          <a:xfrm>
            <a:off x="838200" y="0"/>
            <a:ext cx="10515600" cy="1325563"/>
          </a:xfrm>
        </p:spPr>
        <p:txBody>
          <a:bodyPr/>
          <a:lstStyle/>
          <a:p>
            <a:r>
              <a:rPr lang="en-US" dirty="0"/>
              <a:t>Stream Response</a:t>
            </a:r>
          </a:p>
        </p:txBody>
      </p:sp>
      <p:sp>
        <p:nvSpPr>
          <p:cNvPr id="9" name="TextBox 8">
            <a:extLst>
              <a:ext uri="{FF2B5EF4-FFF2-40B4-BE49-F238E27FC236}">
                <a16:creationId xmlns:a16="http://schemas.microsoft.com/office/drawing/2014/main" id="{B73C09C3-8895-29E1-CE11-81271219F12C}"/>
              </a:ext>
            </a:extLst>
          </p:cNvPr>
          <p:cNvSpPr txBox="1"/>
          <p:nvPr/>
        </p:nvSpPr>
        <p:spPr>
          <a:xfrm>
            <a:off x="8422310" y="2505670"/>
            <a:ext cx="3962601" cy="923330"/>
          </a:xfrm>
          <a:prstGeom prst="rect">
            <a:avLst/>
          </a:prstGeom>
          <a:noFill/>
        </p:spPr>
        <p:txBody>
          <a:bodyPr wrap="square" rtlCol="0">
            <a:spAutoFit/>
          </a:bodyPr>
          <a:lstStyle/>
          <a:p>
            <a:r>
              <a:rPr lang="en-US" dirty="0"/>
              <a:t>Slope = NS</a:t>
            </a:r>
            <a:endParaRPr lang="en-US" baseline="30000" dirty="0"/>
          </a:p>
          <a:p>
            <a:endParaRPr lang="en-US" dirty="0"/>
          </a:p>
          <a:p>
            <a:r>
              <a:rPr lang="en-US" dirty="0"/>
              <a:t>Standardized slope = NS</a:t>
            </a:r>
          </a:p>
        </p:txBody>
      </p:sp>
      <p:pic>
        <p:nvPicPr>
          <p:cNvPr id="11" name="Picture 10">
            <a:extLst>
              <a:ext uri="{FF2B5EF4-FFF2-40B4-BE49-F238E27FC236}">
                <a16:creationId xmlns:a16="http://schemas.microsoft.com/office/drawing/2014/main" id="{C384C34E-F2DD-2809-8DC7-11AB69624E38}"/>
              </a:ext>
            </a:extLst>
          </p:cNvPr>
          <p:cNvPicPr>
            <a:picLocks noChangeAspect="1"/>
          </p:cNvPicPr>
          <p:nvPr/>
        </p:nvPicPr>
        <p:blipFill>
          <a:blip r:embed="rId2"/>
          <a:stretch>
            <a:fillRect/>
          </a:stretch>
        </p:blipFill>
        <p:spPr>
          <a:xfrm>
            <a:off x="297084" y="1490240"/>
            <a:ext cx="7315200" cy="4572000"/>
          </a:xfrm>
          <a:prstGeom prst="rect">
            <a:avLst/>
          </a:prstGeom>
        </p:spPr>
      </p:pic>
      <p:pic>
        <p:nvPicPr>
          <p:cNvPr id="12" name="Picture 11">
            <a:extLst>
              <a:ext uri="{FF2B5EF4-FFF2-40B4-BE49-F238E27FC236}">
                <a16:creationId xmlns:a16="http://schemas.microsoft.com/office/drawing/2014/main" id="{5F7EDA97-25CA-3CA4-8077-271E2D867C1D}"/>
              </a:ext>
            </a:extLst>
          </p:cNvPr>
          <p:cNvPicPr>
            <a:picLocks noChangeAspect="1"/>
          </p:cNvPicPr>
          <p:nvPr/>
        </p:nvPicPr>
        <p:blipFill>
          <a:blip r:embed="rId3"/>
          <a:stretch>
            <a:fillRect/>
          </a:stretch>
        </p:blipFill>
        <p:spPr>
          <a:xfrm>
            <a:off x="5592984" y="137902"/>
            <a:ext cx="2019300" cy="1270000"/>
          </a:xfrm>
          <a:prstGeom prst="rect">
            <a:avLst/>
          </a:prstGeom>
        </p:spPr>
      </p:pic>
    </p:spTree>
    <p:extLst>
      <p:ext uri="{BB962C8B-B14F-4D97-AF65-F5344CB8AC3E}">
        <p14:creationId xmlns:p14="http://schemas.microsoft.com/office/powerpoint/2010/main" val="1801159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FCECF-3FA6-5676-A0DC-69ED23319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0913C-2B06-AB02-AD8E-B325E962120E}"/>
              </a:ext>
            </a:extLst>
          </p:cNvPr>
          <p:cNvSpPr>
            <a:spLocks noGrp="1"/>
          </p:cNvSpPr>
          <p:nvPr>
            <p:ph type="title"/>
          </p:nvPr>
        </p:nvSpPr>
        <p:spPr>
          <a:xfrm>
            <a:off x="838200" y="0"/>
            <a:ext cx="10515600" cy="1325563"/>
          </a:xfrm>
        </p:spPr>
        <p:txBody>
          <a:bodyPr/>
          <a:lstStyle/>
          <a:p>
            <a:r>
              <a:rPr lang="en-US" dirty="0"/>
              <a:t>Plant Response</a:t>
            </a:r>
          </a:p>
        </p:txBody>
      </p:sp>
      <p:pic>
        <p:nvPicPr>
          <p:cNvPr id="4" name="Picture 3">
            <a:extLst>
              <a:ext uri="{FF2B5EF4-FFF2-40B4-BE49-F238E27FC236}">
                <a16:creationId xmlns:a16="http://schemas.microsoft.com/office/drawing/2014/main" id="{FDEA7110-F4C2-DC3C-C020-DF9F87660958}"/>
              </a:ext>
            </a:extLst>
          </p:cNvPr>
          <p:cNvPicPr>
            <a:picLocks noChangeAspect="1"/>
          </p:cNvPicPr>
          <p:nvPr/>
        </p:nvPicPr>
        <p:blipFill>
          <a:blip r:embed="rId2"/>
          <a:stretch>
            <a:fillRect/>
          </a:stretch>
        </p:blipFill>
        <p:spPr>
          <a:xfrm>
            <a:off x="12575017" y="1320299"/>
            <a:ext cx="5682382" cy="3551489"/>
          </a:xfrm>
          <a:prstGeom prst="rect">
            <a:avLst/>
          </a:prstGeom>
        </p:spPr>
      </p:pic>
      <p:pic>
        <p:nvPicPr>
          <p:cNvPr id="10" name="Picture 9">
            <a:extLst>
              <a:ext uri="{FF2B5EF4-FFF2-40B4-BE49-F238E27FC236}">
                <a16:creationId xmlns:a16="http://schemas.microsoft.com/office/drawing/2014/main" id="{22FA36CA-CA8E-5272-BCCC-DDDF8DF884F7}"/>
              </a:ext>
            </a:extLst>
          </p:cNvPr>
          <p:cNvPicPr>
            <a:picLocks noChangeAspect="1"/>
          </p:cNvPicPr>
          <p:nvPr/>
        </p:nvPicPr>
        <p:blipFill>
          <a:blip r:embed="rId3"/>
          <a:stretch>
            <a:fillRect/>
          </a:stretch>
        </p:blipFill>
        <p:spPr>
          <a:xfrm>
            <a:off x="320232" y="1562059"/>
            <a:ext cx="7315200" cy="4572000"/>
          </a:xfrm>
          <a:prstGeom prst="rect">
            <a:avLst/>
          </a:prstGeom>
        </p:spPr>
      </p:pic>
      <p:sp>
        <p:nvSpPr>
          <p:cNvPr id="11" name="TextBox 10">
            <a:extLst>
              <a:ext uri="{FF2B5EF4-FFF2-40B4-BE49-F238E27FC236}">
                <a16:creationId xmlns:a16="http://schemas.microsoft.com/office/drawing/2014/main" id="{DACD6BBB-5D58-001F-2FE9-AAB6F37C1512}"/>
              </a:ext>
            </a:extLst>
          </p:cNvPr>
          <p:cNvSpPr txBox="1"/>
          <p:nvPr/>
        </p:nvSpPr>
        <p:spPr>
          <a:xfrm>
            <a:off x="8422310" y="2505670"/>
            <a:ext cx="3962601" cy="923330"/>
          </a:xfrm>
          <a:prstGeom prst="rect">
            <a:avLst/>
          </a:prstGeom>
          <a:noFill/>
        </p:spPr>
        <p:txBody>
          <a:bodyPr wrap="square" rtlCol="0">
            <a:spAutoFit/>
          </a:bodyPr>
          <a:lstStyle/>
          <a:p>
            <a:r>
              <a:rPr lang="en-US" dirty="0"/>
              <a:t>Slope = 0.1994 g year</a:t>
            </a:r>
            <a:r>
              <a:rPr lang="en-US" baseline="30000" dirty="0"/>
              <a:t>-1 </a:t>
            </a:r>
          </a:p>
          <a:p>
            <a:endParaRPr lang="en-US" dirty="0"/>
          </a:p>
          <a:p>
            <a:r>
              <a:rPr lang="en-US" dirty="0"/>
              <a:t>Standardized slope = 0.3406</a:t>
            </a:r>
          </a:p>
        </p:txBody>
      </p:sp>
      <p:pic>
        <p:nvPicPr>
          <p:cNvPr id="12" name="Picture 11">
            <a:extLst>
              <a:ext uri="{FF2B5EF4-FFF2-40B4-BE49-F238E27FC236}">
                <a16:creationId xmlns:a16="http://schemas.microsoft.com/office/drawing/2014/main" id="{FB2C890C-610B-B8EC-0A2F-698D147D160D}"/>
              </a:ext>
            </a:extLst>
          </p:cNvPr>
          <p:cNvPicPr>
            <a:picLocks noChangeAspect="1"/>
          </p:cNvPicPr>
          <p:nvPr/>
        </p:nvPicPr>
        <p:blipFill>
          <a:blip r:embed="rId4"/>
          <a:stretch>
            <a:fillRect/>
          </a:stretch>
        </p:blipFill>
        <p:spPr>
          <a:xfrm>
            <a:off x="4572885" y="0"/>
            <a:ext cx="2374900" cy="2235200"/>
          </a:xfrm>
          <a:prstGeom prst="rect">
            <a:avLst/>
          </a:prstGeom>
        </p:spPr>
      </p:pic>
    </p:spTree>
    <p:extLst>
      <p:ext uri="{BB962C8B-B14F-4D97-AF65-F5344CB8AC3E}">
        <p14:creationId xmlns:p14="http://schemas.microsoft.com/office/powerpoint/2010/main" val="3513557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60F76-24E5-8FBC-9EA8-0995DD0D3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30634-8375-4A99-23F0-F29861AF8742}"/>
              </a:ext>
            </a:extLst>
          </p:cNvPr>
          <p:cNvSpPr>
            <a:spLocks noGrp="1"/>
          </p:cNvSpPr>
          <p:nvPr>
            <p:ph type="title"/>
          </p:nvPr>
        </p:nvSpPr>
        <p:spPr/>
        <p:txBody>
          <a:bodyPr/>
          <a:lstStyle/>
          <a:p>
            <a:r>
              <a:rPr lang="en-US" dirty="0"/>
              <a:t>Soil Response</a:t>
            </a:r>
          </a:p>
        </p:txBody>
      </p:sp>
      <p:pic>
        <p:nvPicPr>
          <p:cNvPr id="10" name="Picture 9">
            <a:extLst>
              <a:ext uri="{FF2B5EF4-FFF2-40B4-BE49-F238E27FC236}">
                <a16:creationId xmlns:a16="http://schemas.microsoft.com/office/drawing/2014/main" id="{B40A510C-F044-5497-BC34-51E388CF0504}"/>
              </a:ext>
            </a:extLst>
          </p:cNvPr>
          <p:cNvPicPr>
            <a:picLocks noChangeAspect="1"/>
          </p:cNvPicPr>
          <p:nvPr/>
        </p:nvPicPr>
        <p:blipFill>
          <a:blip r:embed="rId2"/>
          <a:stretch>
            <a:fillRect/>
          </a:stretch>
        </p:blipFill>
        <p:spPr>
          <a:xfrm>
            <a:off x="505428" y="1559688"/>
            <a:ext cx="7315200" cy="4572000"/>
          </a:xfrm>
          <a:prstGeom prst="rect">
            <a:avLst/>
          </a:prstGeom>
        </p:spPr>
      </p:pic>
      <p:sp>
        <p:nvSpPr>
          <p:cNvPr id="11" name="TextBox 10">
            <a:extLst>
              <a:ext uri="{FF2B5EF4-FFF2-40B4-BE49-F238E27FC236}">
                <a16:creationId xmlns:a16="http://schemas.microsoft.com/office/drawing/2014/main" id="{909EF20C-B03E-4086-729A-A86DF26F9BF2}"/>
              </a:ext>
            </a:extLst>
          </p:cNvPr>
          <p:cNvSpPr txBox="1"/>
          <p:nvPr/>
        </p:nvSpPr>
        <p:spPr>
          <a:xfrm>
            <a:off x="8422310" y="2505670"/>
            <a:ext cx="3962601" cy="923330"/>
          </a:xfrm>
          <a:prstGeom prst="rect">
            <a:avLst/>
          </a:prstGeom>
          <a:noFill/>
        </p:spPr>
        <p:txBody>
          <a:bodyPr wrap="square" rtlCol="0">
            <a:spAutoFit/>
          </a:bodyPr>
          <a:lstStyle/>
          <a:p>
            <a:r>
              <a:rPr lang="en-US" dirty="0"/>
              <a:t>Slope = 0.00128 g C m</a:t>
            </a:r>
            <a:r>
              <a:rPr lang="en-US" baseline="30000" dirty="0"/>
              <a:t>-2</a:t>
            </a:r>
            <a:r>
              <a:rPr lang="en-US" dirty="0"/>
              <a:t> hr</a:t>
            </a:r>
            <a:r>
              <a:rPr lang="en-US" baseline="30000" dirty="0"/>
              <a:t>-1</a:t>
            </a:r>
            <a:r>
              <a:rPr lang="en-US" dirty="0"/>
              <a:t> year</a:t>
            </a:r>
            <a:r>
              <a:rPr lang="en-US" baseline="30000" dirty="0"/>
              <a:t>-1 </a:t>
            </a:r>
          </a:p>
          <a:p>
            <a:endParaRPr lang="en-US" dirty="0"/>
          </a:p>
          <a:p>
            <a:r>
              <a:rPr lang="en-US" dirty="0"/>
              <a:t>Standardized slope = 0.4601</a:t>
            </a:r>
          </a:p>
        </p:txBody>
      </p:sp>
      <p:pic>
        <p:nvPicPr>
          <p:cNvPr id="12" name="Picture 11">
            <a:extLst>
              <a:ext uri="{FF2B5EF4-FFF2-40B4-BE49-F238E27FC236}">
                <a16:creationId xmlns:a16="http://schemas.microsoft.com/office/drawing/2014/main" id="{1198E61C-58CB-D243-B8C3-9EF398281563}"/>
              </a:ext>
            </a:extLst>
          </p:cNvPr>
          <p:cNvPicPr>
            <a:picLocks noChangeAspect="1"/>
          </p:cNvPicPr>
          <p:nvPr/>
        </p:nvPicPr>
        <p:blipFill>
          <a:blip r:embed="rId3"/>
          <a:srcRect t="21445" b="22470"/>
          <a:stretch>
            <a:fillRect/>
          </a:stretch>
        </p:blipFill>
        <p:spPr>
          <a:xfrm>
            <a:off x="4692469" y="524022"/>
            <a:ext cx="3429000" cy="1574157"/>
          </a:xfrm>
          <a:prstGeom prst="rect">
            <a:avLst/>
          </a:prstGeom>
        </p:spPr>
      </p:pic>
    </p:spTree>
    <p:extLst>
      <p:ext uri="{BB962C8B-B14F-4D97-AF65-F5344CB8AC3E}">
        <p14:creationId xmlns:p14="http://schemas.microsoft.com/office/powerpoint/2010/main" val="3495641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0BAD2-4A99-AF66-B328-FA04680FD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571E1-49B2-086E-E5DC-609F2C8C4D32}"/>
              </a:ext>
            </a:extLst>
          </p:cNvPr>
          <p:cNvSpPr>
            <a:spLocks noGrp="1"/>
          </p:cNvSpPr>
          <p:nvPr>
            <p:ph type="title"/>
          </p:nvPr>
        </p:nvSpPr>
        <p:spPr>
          <a:xfrm>
            <a:off x="743198" y="89065"/>
            <a:ext cx="10515600" cy="1325563"/>
          </a:xfrm>
        </p:spPr>
        <p:txBody>
          <a:bodyPr/>
          <a:lstStyle/>
          <a:p>
            <a:r>
              <a:rPr lang="en-US" dirty="0"/>
              <a:t>Preliminary Conclusions</a:t>
            </a:r>
          </a:p>
        </p:txBody>
      </p:sp>
      <p:sp>
        <p:nvSpPr>
          <p:cNvPr id="3" name="Content Placeholder 2">
            <a:extLst>
              <a:ext uri="{FF2B5EF4-FFF2-40B4-BE49-F238E27FC236}">
                <a16:creationId xmlns:a16="http://schemas.microsoft.com/office/drawing/2014/main" id="{FF4A1E96-FC93-57B4-1480-D5F313FFC697}"/>
              </a:ext>
            </a:extLst>
          </p:cNvPr>
          <p:cNvSpPr>
            <a:spLocks noGrp="1"/>
          </p:cNvSpPr>
          <p:nvPr>
            <p:ph idx="1"/>
          </p:nvPr>
        </p:nvSpPr>
        <p:spPr>
          <a:xfrm>
            <a:off x="838200" y="1414628"/>
            <a:ext cx="10515600" cy="4943310"/>
          </a:xfrm>
        </p:spPr>
        <p:txBody>
          <a:bodyPr>
            <a:normAutofit lnSpcReduction="10000"/>
          </a:bodyPr>
          <a:lstStyle/>
          <a:p>
            <a:r>
              <a:rPr lang="en-US" dirty="0"/>
              <a:t>While not necessarily linear, almost all carbon flux-related parameters examined so far are increasing with similar standardized slopes</a:t>
            </a:r>
          </a:p>
          <a:p>
            <a:endParaRPr lang="en-US" sz="1700" dirty="0"/>
          </a:p>
          <a:p>
            <a:r>
              <a:rPr lang="en-US" dirty="0"/>
              <a:t>Carbon data is relatively new by Hubbard Brook standards, so we only have about 20 years where all the data overlap</a:t>
            </a:r>
          </a:p>
          <a:p>
            <a:endParaRPr lang="en-US" sz="1600" dirty="0"/>
          </a:p>
          <a:p>
            <a:r>
              <a:rPr lang="en-US" dirty="0"/>
              <a:t>There are strange values in some datasets, so expert review will be needed prior to standardized analyses</a:t>
            </a:r>
          </a:p>
          <a:p>
            <a:endParaRPr lang="en-US" sz="1600" dirty="0"/>
          </a:p>
          <a:p>
            <a:r>
              <a:rPr lang="en-US" dirty="0"/>
              <a:t>Interested in participating? Thoughts? Concerns? </a:t>
            </a:r>
          </a:p>
          <a:p>
            <a:pPr lvl="1"/>
            <a:r>
              <a:rPr lang="en-US" dirty="0"/>
              <a:t>Please contact me: </a:t>
            </a:r>
            <a:r>
              <a:rPr lang="en-US" dirty="0" err="1"/>
              <a:t>caitlin.hicks.pries@dartmouth.edu</a:t>
            </a: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4078192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10956</TotalTime>
  <Words>517</Words>
  <Application>Microsoft Macintosh PowerPoint</Application>
  <PresentationFormat>Widescreen</PresentationFormat>
  <Paragraphs>76</Paragraphs>
  <Slides>14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Temporal Trends in Carbon Cycling</vt:lpstr>
      <vt:lpstr>How has global change affected the carbon cycle at Hubbard Brook?</vt:lpstr>
      <vt:lpstr>Some Background</vt:lpstr>
      <vt:lpstr>PowerPoint Presentation</vt:lpstr>
      <vt:lpstr>Preliminary Hypothesis:</vt:lpstr>
      <vt:lpstr>Approach</vt:lpstr>
      <vt:lpstr>Climate Driver</vt:lpstr>
      <vt:lpstr>Atmospheric Chemistry Driver</vt:lpstr>
      <vt:lpstr>Atmospheric Carbon</vt:lpstr>
      <vt:lpstr>Stream Response</vt:lpstr>
      <vt:lpstr>Stream Response</vt:lpstr>
      <vt:lpstr>Plant Response</vt:lpstr>
      <vt:lpstr>Soil Response</vt:lpstr>
      <vt:lpstr>Preliminary 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Caitlin Hicks Pries</dc:creator>
  <cp:lastModifiedBy>Caitlin Hicks Pries</cp:lastModifiedBy>
  <cp:revision>15</cp:revision>
  <dcterms:created xsi:type="dcterms:W3CDTF">2026-07-06T00:56:09Z</dcterms:created>
  <dcterms:modified xsi:type="dcterms:W3CDTF">2026-07-13T15:33:05Z</dcterms:modified>
</cp:coreProperties>
</file>